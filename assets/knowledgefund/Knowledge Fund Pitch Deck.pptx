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Metrophobic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hmed Dhahb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schemas.openxmlformats.org/officeDocument/2006/relationships/font" Target="fonts/Metrophobic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1-09-25T06:14:26.823">
    <p:pos x="655" y="1583"/>
    <p:text>Just incase, this slide isn't a universal thing, feel free to be true to what you think is relevant to Knowledge Fund, e.g. phase 1 - chat app phase 2 - knowledge hub , phase 3 - insights etc...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https://www-forbes-com.cdn.ampproject.org/c/s/www.forbes.com/sites/cognitiveworld/2022/08/14/the-one-practice-that-is-separating-the-ai-successes-from-the-failures/amp/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to earn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to benefit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Everything you do in an enterprise has value, now you will be able to measure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Weather</a:t>
            </a:r>
            <a:r>
              <a:rPr lang="en-GB"/>
              <a:t> you make a doc, update a </a:t>
            </a:r>
            <a:r>
              <a:rPr lang="en-GB"/>
              <a:t>spreadsheet</a:t>
            </a:r>
            <a:r>
              <a:rPr lang="en-GB"/>
              <a:t>, interact with a system or have a meeting ro make a a new connection. You will get rewarded.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reward will demonstrate your value to the company and beyond.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Companies need to not only focus on activity but also value of </a:t>
            </a:r>
            <a:r>
              <a:rPr lang="en-GB"/>
              <a:t>contribution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Today peer-reviewed and backed contribution linked to overall organisation values is most valuable to </a:t>
            </a:r>
            <a:r>
              <a:rPr lang="en-GB"/>
              <a:t>organization</a:t>
            </a:r>
            <a:r>
              <a:rPr lang="en-GB"/>
              <a:t>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Tomorrow AI will help you find game changing ideas dreamed by your people.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hold people accountable for their 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encouraging and incentivising people to be hyper responsible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When your organisation runs out of ideas, Knowledge.</a:t>
            </a:r>
            <a:r>
              <a:rPr lang="en-GB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Fund</a:t>
            </a:r>
            <a:r>
              <a:rPr lang="en-GB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will help your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Enterprise Knowledge Economy grow.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Re-imagine how enterprises will grow in a new Knowledge Economy. Knowledge.Fund will provide foundational ecosystem for building knowledge experiences, that will drive enterprises of tomorrow.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df300ab8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df300ab8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44e8dcb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44e8dcb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4e8dcb7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44e8dcb7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edf300ab85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edf300ab85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focus, disrupt enterprise workforce experience platforms.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Develop experiences that do not waste </a:t>
            </a:r>
            <a:r>
              <a:rPr lang="en-GB"/>
              <a:t>enterprise</a:t>
            </a:r>
            <a:r>
              <a:rPr lang="en-GB"/>
              <a:t> time, by eliminating old school ways of working. </a:t>
            </a:r>
            <a:r>
              <a:rPr lang="en-GB"/>
              <a:t>Typewriters</a:t>
            </a:r>
            <a:r>
              <a:rPr lang="en-GB"/>
              <a:t> have disappeared so should those ways of </a:t>
            </a:r>
            <a:r>
              <a:rPr lang="en-GB"/>
              <a:t>working</a:t>
            </a:r>
            <a:r>
              <a:rPr lang="en-GB"/>
              <a:t>. Focus on data and let data present it self in all the ways relevant.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Don’t waste human invaluable time, let people do what they are good at innovate, let computers do the rest.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People are not librarians, let computers sort it out.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People are not </a:t>
            </a:r>
            <a:r>
              <a:rPr lang="en-GB"/>
              <a:t>babysitters,</a:t>
            </a:r>
            <a:r>
              <a:rPr lang="en-GB"/>
              <a:t> let computers do that.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People are not assistants, let computers do that.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edf300ab85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edf300ab85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df300ab85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df300ab8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df300ab85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edf300ab85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edf300ab85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edf300ab85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TAM – Total Addressable Market / Total Available Market. This is the total market demand for a product and / or services.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SAM – Serviceable Addressable Market or Served Available Market. This is the segment of the TAM within your geographical reach that you can target with your products and / or services.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SOM – Serviceable Obtainable Market or Share of Market. This is the portion of SAM that you can realistically capture.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Enterprise</a:t>
            </a:r>
            <a:r>
              <a:rPr lang="en-GB"/>
              <a:t> governance 27B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Employee </a:t>
            </a:r>
            <a:r>
              <a:rPr lang="en-GB"/>
              <a:t>engagement</a:t>
            </a:r>
            <a:r>
              <a:rPr lang="en-GB"/>
              <a:t> 370mil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1.1T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Select Competitors (Total 253 Featured)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33 - MVP (300k pp)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 Token and Integration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 Experiences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 Semantic Graph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4 Business Analyst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180 people 54mil @ 300k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Token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</a:t>
            </a:r>
            <a:r>
              <a:rPr lang="en-GB">
                <a:solidFill>
                  <a:schemeClr val="dk1"/>
                </a:solidFill>
              </a:rPr>
              <a:t>Token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Experiences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 </a:t>
            </a:r>
            <a:r>
              <a:rPr lang="en-GB">
                <a:solidFill>
                  <a:schemeClr val="dk1"/>
                </a:solidFill>
              </a:rPr>
              <a:t>Experiences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>
                <a:solidFill>
                  <a:schemeClr val="dk1"/>
                </a:solidFill>
              </a:rPr>
              <a:t>Experiences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</a:t>
            </a:r>
            <a:r>
              <a:rPr lang="en-GB">
                <a:solidFill>
                  <a:schemeClr val="dk1"/>
                </a:solidFill>
              </a:rPr>
              <a:t>Experiences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</a:t>
            </a:r>
            <a:r>
              <a:rPr lang="en-GB">
                <a:solidFill>
                  <a:schemeClr val="dk1"/>
                </a:solidFill>
              </a:rPr>
              <a:t>Experiences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 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 </a:t>
            </a:r>
            <a:r>
              <a:rPr lang="en-GB">
                <a:solidFill>
                  <a:schemeClr val="dk1"/>
                </a:solidFill>
              </a:rPr>
              <a:t>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 </a:t>
            </a:r>
            <a:r>
              <a:rPr lang="en-GB"/>
              <a:t>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 </a:t>
            </a:r>
            <a:r>
              <a:rPr lang="en-GB">
                <a:solidFill>
                  <a:schemeClr val="dk1"/>
                </a:solidFill>
              </a:rPr>
              <a:t>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Marketing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13 </a:t>
            </a:r>
            <a:r>
              <a:rPr lang="en-GB"/>
              <a:t>Semantic</a:t>
            </a:r>
            <a:r>
              <a:rPr lang="en-GB"/>
              <a:t>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14 Semantic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 AI and 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16 AI and 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17 Business Analyst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18 Business Analyst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df300ab85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df300ab85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Atlassian Corporation Plc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Bitrix, Inc.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Bloomfire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Chadha Software Technologies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ComAround Inc.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eGain Corporation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Ernst &amp; Young Global Limited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eXo Platform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Freshworks Inc.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IBM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Igloo Software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KMS Lighthouse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Knosys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Lucidea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MangoApps Inc.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Moxie Software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Open Text Corporation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ProProfs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RightAnswers, Inc.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Yonyx Inc.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df300ab85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df300ab8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df300ab85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df300ab85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29450" y="2153525"/>
            <a:ext cx="7688100" cy="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15" name="Google Shape;15;p2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16" name="Google Shape;16;p2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8" name="Google Shape;18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24" name="Google Shape;24;p3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25" name="Google Shape;25;p3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7" name="Google Shape;27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3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35" name="Google Shape;35;p4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36" name="Google Shape;36;p4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8" name="Google Shape;3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4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47" name="Google Shape;47;p5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48" name="Google Shape;48;p5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0" name="Google Shape;5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5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6" name="Google Shape;56;p6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57" name="Google Shape;57;p6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58" name="Google Shape;58;p6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6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0" name="Google Shape;6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6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67" name="Google Shape;67;p7"/>
          <p:cNvGrpSpPr/>
          <p:nvPr/>
        </p:nvGrpSpPr>
        <p:grpSpPr>
          <a:xfrm>
            <a:off x="891600" y="568325"/>
            <a:ext cx="4007025" cy="583675"/>
            <a:chOff x="891600" y="568325"/>
            <a:chExt cx="4007025" cy="583675"/>
          </a:xfrm>
        </p:grpSpPr>
        <p:grpSp>
          <p:nvGrpSpPr>
            <p:cNvPr id="68" name="Google Shape;68;p7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69" name="Google Shape;69;p7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7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1" name="Google Shape;71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7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8"/>
          <p:cNvSpPr txBox="1"/>
          <p:nvPr>
            <p:ph type="title"/>
          </p:nvPr>
        </p:nvSpPr>
        <p:spPr>
          <a:xfrm>
            <a:off x="729450" y="864300"/>
            <a:ext cx="7021200" cy="23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9" name="Google Shape;79;p8"/>
          <p:cNvGrpSpPr/>
          <p:nvPr/>
        </p:nvGrpSpPr>
        <p:grpSpPr>
          <a:xfrm>
            <a:off x="830400" y="3448775"/>
            <a:ext cx="4007025" cy="583675"/>
            <a:chOff x="891600" y="568325"/>
            <a:chExt cx="4007025" cy="583675"/>
          </a:xfrm>
        </p:grpSpPr>
        <p:grpSp>
          <p:nvGrpSpPr>
            <p:cNvPr id="80" name="Google Shape;80;p8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81" name="Google Shape;81;p8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8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3" name="Google Shape;83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8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2" name="Google Shape;92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96" name="Google Shape;96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1" name="Google Shape;101;p11"/>
          <p:cNvGrpSpPr/>
          <p:nvPr/>
        </p:nvGrpSpPr>
        <p:grpSpPr>
          <a:xfrm>
            <a:off x="901275" y="346000"/>
            <a:ext cx="4007025" cy="583675"/>
            <a:chOff x="891600" y="568325"/>
            <a:chExt cx="4007025" cy="583675"/>
          </a:xfrm>
        </p:grpSpPr>
        <p:grpSp>
          <p:nvGrpSpPr>
            <p:cNvPr id="102" name="Google Shape;102;p11"/>
            <p:cNvGrpSpPr/>
            <p:nvPr/>
          </p:nvGrpSpPr>
          <p:grpSpPr>
            <a:xfrm rot="5400000">
              <a:off x="1318062" y="841069"/>
              <a:ext cx="563953" cy="45826"/>
              <a:chOff x="4580561" y="2589004"/>
              <a:chExt cx="1064464" cy="25200"/>
            </a:xfrm>
          </p:grpSpPr>
          <p:sp>
            <p:nvSpPr>
              <p:cNvPr id="103" name="Google Shape;103;p11"/>
              <p:cNvSpPr/>
              <p:nvPr/>
            </p:nvSpPr>
            <p:spPr>
              <a:xfrm rot="-5400000">
                <a:off x="5366325" y="2335504"/>
                <a:ext cx="25200" cy="5322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1"/>
              <p:cNvSpPr/>
              <p:nvPr/>
            </p:nvSpPr>
            <p:spPr>
              <a:xfrm rot="-5400000">
                <a:off x="4836311" y="2333254"/>
                <a:ext cx="25200" cy="536700"/>
              </a:xfrm>
              <a:prstGeom prst="rect">
                <a:avLst/>
              </a:prstGeom>
              <a:solidFill>
                <a:srgbClr val="F78C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5" name="Google Shape;105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91600" y="568325"/>
              <a:ext cx="493850" cy="5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1"/>
            <p:cNvSpPr txBox="1"/>
            <p:nvPr/>
          </p:nvSpPr>
          <p:spPr>
            <a:xfrm>
              <a:off x="1814625" y="597900"/>
              <a:ext cx="308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Metrophobic"/>
                  <a:ea typeface="Metrophobic"/>
                  <a:cs typeface="Metrophobic"/>
                  <a:sym typeface="Metrophobic"/>
                </a:rPr>
                <a:t>Knowledge.Fund</a:t>
              </a:r>
              <a:endParaRPr sz="2400">
                <a:latin typeface="Metrophobic"/>
                <a:ea typeface="Metrophobic"/>
                <a:cs typeface="Metrophobic"/>
                <a:sym typeface="Metrophobic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MaxBarras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hyperlink" Target="https://www.linkedin.com/in/MaxBarras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727950" y="1814025"/>
            <a:ext cx="7688100" cy="18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Knowledge.Fund is the data product of your organisation.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“Create to earn” in an organisational digital knowledge economy.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Everything you do in an enterprise has value, now you will be able to measure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every interaction within the Enterprise into value for its creator.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Whether its a document, spreadsheet, a meeting or social interactions. You will be rewarded.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14" name="Google Shape;114;p13"/>
          <p:cNvSpPr txBox="1"/>
          <p:nvPr>
            <p:ph idx="1" type="subTitle"/>
          </p:nvPr>
        </p:nvSpPr>
        <p:spPr>
          <a:xfrm>
            <a:off x="796925" y="3868650"/>
            <a:ext cx="2506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Max Barrass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Founder &amp; CEO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E: max.barrass@governance.foundation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linkedin.com/in/MaxBarrass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M: 0410 533 731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problem of knowledge &amp; interpretation</a:t>
            </a:r>
            <a:endParaRPr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9450" y="2078875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Successful organisations' foundations are built on employees' ability to collaborate, cooperate, coordinate and communicate. Over time these foundations are inadvertently eroded from within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Knowledge Tzars stifle collaboration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Knowledge silos prevent cooperation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 vast number of information silos prohibit effective coordination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Employees are starved of organisational attention leading to a shutdown of communication, stress, depression and, in best cases for employee's health knowledge walking out the door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Knowledge.Fund solves this by: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Establishing organisational knowledge economy and unlocking employee participation by providing short term and long term knowledge participation rewards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Providing a common semantic knowledge foundation that embraces domain specific experiences.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Enabling AI Agents to nurture employees ideas in context of an organisation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100% of all employees of any organisation manage knowledge of that organisation.</a:t>
            </a:r>
            <a:endParaRPr/>
          </a:p>
        </p:txBody>
      </p:sp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481375" y="5259800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on the same in a organisation is impossible.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Communication within an enterprise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Sharing knowledge in organisations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 organisations employees knowledge is starving of attention.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Knowledge Tzars and knowledge silos prohibit contribution, collaboration and cooperation, eroding organisations foundations from within.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Existing knowledge methods Wiki, Sites, Document Portals, Systems, Documentation and Employees knowledge are information systems that aim to represent reality that the organisation is navigating to deliver value.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it stands these systems do not have a way to connect without making more siloed information further exacerbating the issue.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 Fund solves this by establishing a centralised entity that becomes representation of all knowledge within the organisation. It enables all employees to contribute to the knowledge using experiences they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allowing people to think how they want, use experiences relevant to them, BUT ensuring that their contribution remain relevant for the organisation.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078875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Successful organisations' foundations are built on employees' ability to collaborate, cooperate, coordinate and communicate. Over time these foundations are inadvertently eroded from within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Knowledge Tzars stifle collaboration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Knowledge silos prevent cooperation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 vast number of information silos prohibit effective coordination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Employees are starved of organisational attention leading to a shutdown of communication, stress, depression and, in best cases for employee's health knowledge walking out the door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Impact of </a:t>
            </a:r>
            <a:r>
              <a:rPr lang="en-GB"/>
              <a:t>change</a:t>
            </a:r>
            <a:r>
              <a:rPr lang="en-GB"/>
              <a:t> on </a:t>
            </a:r>
            <a:r>
              <a:rPr lang="en-GB"/>
              <a:t>organisation</a:t>
            </a:r>
            <a:r>
              <a:rPr lang="en-GB"/>
              <a:t> and knowledge </a:t>
            </a:r>
            <a:r>
              <a:rPr lang="en-GB"/>
              <a:t>structure</a:t>
            </a:r>
            <a:r>
              <a:rPr lang="en-GB"/>
              <a:t> can not be measured or easily validated</a:t>
            </a:r>
            <a:endParaRPr/>
          </a:p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481375" y="5259800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on the same in a organisation is impossible.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Communication within an enterprise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Sharing knowledge in organisations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 organisations employees knowledge is starving of attention.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Knowledge Tzars and knowledge silos prohibit contribution, collaboration and cooperation, eroding organisations foundations from within.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Existing knowledge methods Wiki, Sites, Document Portals, Systems, Documentation and Employees knowledge are information systems that aim to represent reality that the organisation is navigating to deliver value.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it stands these systems do not have a way to connect without making more siloed information further exacerbating the issue.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 Fund solves this by establishing a centralised entity that becomes representation of all knowledge within the organisation. It enables all employees to contribute to the knowledge using experiences they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allowing people to think how they want, use experiences relevant to them, BUT ensuring that their contribution remain relevant for the organisation.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729450" y="2078875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Knowledge.Fund solves this by: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Creates a collective brain for organisation that is used as a collaboration platform by humans and AI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Establishing organisational knowledge economy and unlocking employee participation by providing short term and long term knowledge participation rewards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Providing a common semantic knowledge foundation that embraces domain specific experiences.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Enabling AI Agents to nurture employees ideas in context of an organisation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100% of all employees of any organisation manage knowledge of that organisation.</a:t>
            </a:r>
            <a:endParaRPr/>
          </a:p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481375" y="5259800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on the same in a organisation is impossible.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Communication within an enterprise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Sharing knowledge in organisations is hard.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 organisations employees knowledge is starving of attention.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Knowledge Tzars and knowledge silos prohibit contribution, collaboration and cooperation, eroding organisations foundations from within.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Existing knowledge methods Wiki, Sites, Document Portals, Systems, Documentation and Employees knowledge are information systems that aim to represent reality that the organisation is navigating to deliver value.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it stands these systems do not have a way to connect without making more siloed information further exacerbating the issue.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 Fund solves this by establishing a centralised entity that becomes representation of all knowledge within the organisation. It enables all employees to contribute to the knowledge using experiences they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allowing people to think how they want, use experiences relevant to them, BUT ensuring that their contribution remain relevant for the organisation.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Focus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729450" y="2078875"/>
            <a:ext cx="4344600" cy="28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Primary Focus on: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Semantic</a:t>
            </a:r>
            <a:r>
              <a:rPr lang="en-GB"/>
              <a:t> Foundations supporting personalised knowledge </a:t>
            </a:r>
            <a:r>
              <a:rPr lang="en-GB"/>
              <a:t>experiences.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AI assisted support of knowledge exploration.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Employee knowledge reward transferable between companies.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Addressing organisations need: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 entity that define that organisation and all of its knowledge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ability to measure employee knowledge impact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 entity that can be used as transparent mechanism for oversight by government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semantic knowledge foundation that can be used in design and operational capacity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 ability to offer itself as a shopping cart of experiences to its employees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5133350" y="3051600"/>
            <a:ext cx="3466800" cy="18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Addressing employees need:</a:t>
            </a:r>
            <a:endParaRPr/>
          </a:p>
          <a:p>
            <a:pPr indent="-2863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 way to have an undivided attention of their organisation entity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 way to demonstrate their contribution between organisation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Personalised organisational experiences that cater for their needs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 ability to contribute to organisation from any angle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Assistance to contribute to organisation semantic structure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Customers</a:t>
            </a:r>
            <a:endParaRPr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Organisations that rely on </a:t>
            </a:r>
            <a:r>
              <a:rPr lang="en-GB"/>
              <a:t>collaboration, cooperation, coordination and communication of</a:t>
            </a:r>
            <a:r>
              <a:rPr lang="en-GB"/>
              <a:t> human and artificial employees, need to have Knowledge.Fund.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Knowledge.Fund 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be able to think and reason on </a:t>
            </a:r>
            <a:r>
              <a:rPr lang="en-GB"/>
              <a:t>the information it has been provided and ask for help form relevant knowledge agents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provide a consistent platform for communicating and persisting knowledge internally and externally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help to prevent regulatory and corporate governance issues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establish a mechanism that would promote good behaviours that will lift quality of knowledge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ensure that your employees are listened to, their ideas are exhausted and attributed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will provide a foundation for creating and integrating enterprise experiences of now and the future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729450" y="2078875"/>
            <a:ext cx="76887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Organisations</a:t>
            </a:r>
            <a:r>
              <a:rPr b="1" lang="en-GB"/>
              <a:t> fail people and people fail organisations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Size of organisations, numbers of </a:t>
            </a:r>
            <a:r>
              <a:rPr lang="en-GB"/>
              <a:t>employees</a:t>
            </a:r>
            <a:r>
              <a:rPr lang="en-GB"/>
              <a:t>, multi-lingual-multi-regional, multi-domain coupled with acceleration of returns, fluid ways of working and remote </a:t>
            </a:r>
            <a:r>
              <a:rPr lang="en-GB"/>
              <a:t>pressures, provide a ground for reinventing how successful organisations of tomorrow will operate.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The pains are real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 workers have the </a:t>
            </a:r>
            <a:r>
              <a:rPr lang="en-GB"/>
              <a:t>highest</a:t>
            </a:r>
            <a:r>
              <a:rPr lang="en-GB"/>
              <a:t> rate of work related stress, caused by conflict at work. Organisations need to have a way to help to eradicate conflicts to enable employees to drive success.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The demand exist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Organisations of the future will not work like we do now. Organisations of the future will be </a:t>
            </a:r>
            <a:r>
              <a:rPr lang="en-GB"/>
              <a:t>defined</a:t>
            </a:r>
            <a:r>
              <a:rPr lang="en-GB"/>
              <a:t> by their ability to grasp their </a:t>
            </a:r>
            <a:r>
              <a:rPr lang="en-GB"/>
              <a:t>knowledge.</a:t>
            </a:r>
            <a:endParaRPr/>
          </a:p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now?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model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Open Source Model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 help with adoption, community </a:t>
            </a:r>
            <a:r>
              <a:rPr lang="en-GB"/>
              <a:t>contribution</a:t>
            </a:r>
            <a:r>
              <a:rPr lang="en-GB"/>
              <a:t> and feedback.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Enterprise</a:t>
            </a:r>
            <a:r>
              <a:rPr b="1" lang="en-GB"/>
              <a:t> SaaS ($10 paupm)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Hosted for organisations, provides model syndication, </a:t>
            </a:r>
            <a:r>
              <a:rPr lang="en-GB"/>
              <a:t>global analytics, employee reward agregation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Enterprise </a:t>
            </a:r>
            <a:r>
              <a:rPr b="1" lang="en-GB"/>
              <a:t>Appliance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Custom built appliance that is h</a:t>
            </a:r>
            <a:r>
              <a:rPr lang="en-GB"/>
              <a:t>osted by organisations</a:t>
            </a:r>
            <a:r>
              <a:rPr lang="en-GB"/>
              <a:t>, provides model syndication, global analytics, employee reward agregation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TAM (USD1.1T+)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Global knowledge management is a managerial approach for managing IP in organisations will reach 1.1T+ by 2026.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SAM (USD38.1B+)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goal is to focus on the core value of providing semantic knowledge </a:t>
            </a:r>
            <a:r>
              <a:rPr lang="en-GB"/>
              <a:t>platform</a:t>
            </a:r>
            <a:r>
              <a:rPr lang="en-GB"/>
              <a:t> that enables employees with experiences and tools needed for managing knowledge in </a:t>
            </a:r>
            <a:r>
              <a:rPr lang="en-GB"/>
              <a:t>organisation.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Now ($1</a:t>
            </a:r>
            <a:r>
              <a:rPr b="1" lang="en-GB"/>
              <a:t>0</a:t>
            </a:r>
            <a:r>
              <a:rPr b="1" lang="en-GB"/>
              <a:t>M ARR)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Build MVP that captures the imagination of early adopters. Organisations will spend $120 per </a:t>
            </a:r>
            <a:r>
              <a:rPr lang="en-GB"/>
              <a:t>employee</a:t>
            </a:r>
            <a:r>
              <a:rPr lang="en-GB"/>
              <a:t> to </a:t>
            </a:r>
            <a:r>
              <a:rPr lang="en-GB"/>
              <a:t>guarantee</a:t>
            </a:r>
            <a:r>
              <a:rPr lang="en-GB"/>
              <a:t> their employee success.</a:t>
            </a:r>
            <a:endParaRPr/>
          </a:p>
        </p:txBody>
      </p:sp>
      <p:sp>
        <p:nvSpPr>
          <p:cNvPr id="166" name="Google Shape;16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Market size</a:t>
            </a:r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4819775" y="2206225"/>
            <a:ext cx="3842700" cy="25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End Game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Knowledge.Fund will transcend existing knowledge and operational systems and will be addressing </a:t>
            </a:r>
            <a:r>
              <a:rPr lang="en-GB"/>
              <a:t>challenges </a:t>
            </a:r>
            <a:r>
              <a:rPr lang="en-GB"/>
              <a:t>of Industry 4.0.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Our mid term goal is to disrupt how and why employees </a:t>
            </a:r>
            <a:r>
              <a:rPr b="1" lang="en-GB"/>
              <a:t>contribute</a:t>
            </a:r>
            <a:r>
              <a:rPr b="1" lang="en-GB"/>
              <a:t> to </a:t>
            </a:r>
            <a:r>
              <a:rPr b="1" lang="en-GB"/>
              <a:t>organisational</a:t>
            </a:r>
            <a:r>
              <a:rPr b="1" lang="en-GB"/>
              <a:t> knowledge. </a:t>
            </a:r>
            <a:br>
              <a:rPr b="1" lang="en-GB"/>
            </a:br>
            <a:br>
              <a:rPr b="1" lang="en-GB"/>
            </a:br>
            <a:r>
              <a:rPr b="1" lang="en-GB"/>
              <a:t>Long term we see Knowldge.Fund being a default method for managing and </a:t>
            </a:r>
            <a:r>
              <a:rPr b="1" lang="en-GB"/>
              <a:t>organising</a:t>
            </a:r>
            <a:r>
              <a:rPr b="1" lang="en-GB"/>
              <a:t> organisations. And to become knowledge management </a:t>
            </a:r>
            <a:r>
              <a:rPr b="1" lang="en-GB"/>
              <a:t>platform for a new space colony</a:t>
            </a:r>
            <a:r>
              <a:rPr b="1" lang="en-GB"/>
              <a:t>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Competition &amp; our plan to win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4572000" y="2078875"/>
            <a:ext cx="3846300" cy="28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Management </a:t>
            </a:r>
            <a:r>
              <a:rPr lang="en-GB"/>
              <a:t>market</a:t>
            </a:r>
            <a:r>
              <a:rPr lang="en-GB"/>
              <a:t> is stuck in document and records </a:t>
            </a:r>
            <a:r>
              <a:rPr lang="en-GB"/>
              <a:t>management</a:t>
            </a:r>
            <a:r>
              <a:rPr lang="en-GB"/>
              <a:t> concepts that </a:t>
            </a:r>
            <a:r>
              <a:rPr lang="en-GB"/>
              <a:t>essentially</a:t>
            </a:r>
            <a:r>
              <a:rPr lang="en-GB"/>
              <a:t> provide better looking ways to manage knowledge mess contained in artifacts.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Our Plan to Win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have a real opportunity to set a new </a:t>
            </a:r>
            <a:r>
              <a:rPr lang="en-GB"/>
              <a:t>standard</a:t>
            </a:r>
            <a:r>
              <a:rPr lang="en-GB"/>
              <a:t> for knowledge </a:t>
            </a:r>
            <a:r>
              <a:rPr lang="en-GB"/>
              <a:t>management</a:t>
            </a:r>
            <a:r>
              <a:rPr lang="en-GB"/>
              <a:t> for </a:t>
            </a:r>
            <a:r>
              <a:rPr lang="en-GB"/>
              <a:t>organisations.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Our plan to win is founded on following the pillars</a:t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GB"/>
              <a:t>Directly address the problem</a:t>
            </a:r>
            <a:r>
              <a:rPr lang="en-GB"/>
              <a:t> by replace classic artifact creation for knowledge sharing with targeted experiences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GB"/>
              <a:t>Create new marketplace</a:t>
            </a:r>
            <a:r>
              <a:rPr lang="en-GB"/>
              <a:t> for organisational knowledge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GB"/>
              <a:t>Create new industry</a:t>
            </a:r>
            <a:r>
              <a:rPr lang="en-GB"/>
              <a:t> for semantic organisations</a:t>
            </a:r>
            <a:endParaRPr/>
          </a:p>
        </p:txBody>
      </p:sp>
      <p:cxnSp>
        <p:nvCxnSpPr>
          <p:cNvPr id="174" name="Google Shape;174;p22"/>
          <p:cNvCxnSpPr/>
          <p:nvPr/>
        </p:nvCxnSpPr>
        <p:spPr>
          <a:xfrm flipH="1">
            <a:off x="1985775" y="2160850"/>
            <a:ext cx="24900" cy="21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2"/>
          <p:cNvCxnSpPr/>
          <p:nvPr/>
        </p:nvCxnSpPr>
        <p:spPr>
          <a:xfrm>
            <a:off x="600700" y="3220425"/>
            <a:ext cx="30120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2"/>
          <p:cNvSpPr txBox="1"/>
          <p:nvPr/>
        </p:nvSpPr>
        <p:spPr>
          <a:xfrm>
            <a:off x="1478950" y="1837625"/>
            <a:ext cx="11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Lato"/>
                <a:ea typeface="Lato"/>
                <a:cs typeface="Lato"/>
                <a:sym typeface="Lato"/>
              </a:rPr>
              <a:t>Targeted</a:t>
            </a:r>
            <a:endParaRPr i="1"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439175" y="4296925"/>
            <a:ext cx="11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Lato"/>
                <a:ea typeface="Lato"/>
                <a:cs typeface="Lato"/>
                <a:sym typeface="Lato"/>
              </a:rPr>
              <a:t>Generic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2941225" y="2834475"/>
            <a:ext cx="11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Lato"/>
                <a:ea typeface="Lato"/>
                <a:cs typeface="Lato"/>
                <a:sym typeface="Lato"/>
              </a:rPr>
              <a:t>Knowledge Focus</a:t>
            </a:r>
            <a:endParaRPr i="1"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90125" y="2765175"/>
            <a:ext cx="12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Lato"/>
                <a:ea typeface="Lato"/>
                <a:cs typeface="Lato"/>
                <a:sym typeface="Lato"/>
              </a:rPr>
              <a:t>Classic Documents </a:t>
            </a:r>
            <a:r>
              <a:rPr i="1" lang="en-GB" sz="900">
                <a:latin typeface="Lato"/>
                <a:ea typeface="Lato"/>
                <a:cs typeface="Lato"/>
                <a:sym typeface="Lato"/>
              </a:rPr>
              <a:t>Management</a:t>
            </a:r>
            <a:endParaRPr i="1"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192000" y="2591800"/>
            <a:ext cx="73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Bitrix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866603" y="3689425"/>
            <a:ext cx="88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Atlassian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60050" y="1994075"/>
            <a:ext cx="96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Bloomfire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263063" y="3854675"/>
            <a:ext cx="96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Google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303713" y="4138188"/>
            <a:ext cx="96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Microsoft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1192000" y="2160725"/>
            <a:ext cx="88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Igloo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982814" y="3279188"/>
            <a:ext cx="8844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Lucidea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303725" y="2355350"/>
            <a:ext cx="96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KMS Lighthouse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2871125" y="1943975"/>
            <a:ext cx="142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78C6C"/>
                </a:solidFill>
                <a:latin typeface="Lato"/>
                <a:ea typeface="Lato"/>
                <a:cs typeface="Lato"/>
                <a:sym typeface="Lato"/>
              </a:rPr>
              <a:t>Knowledge.Fund</a:t>
            </a:r>
            <a:endParaRPr sz="1100">
              <a:solidFill>
                <a:srgbClr val="F78C6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1112201" y="2922425"/>
            <a:ext cx="1044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Freshworks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Founders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729450" y="2078875"/>
            <a:ext cx="6395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Driven and </a:t>
            </a:r>
            <a:r>
              <a:rPr lang="en-GB"/>
              <a:t>resilient with demonstrated track record.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Max Barrass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 am a passionate change agent, I bring unifying drive and vision for the future of organisation management. I am very passionate about improving experience for people who work in organisations.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 am in the process of onboarding a CTO and a COO.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525" y="1552250"/>
            <a:ext cx="1269150" cy="12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We’re moving before others do.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887950" y="1964300"/>
            <a:ext cx="7688700" cy="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-GB" sz="1225"/>
              <a:t>We need to expedite product development while building a </a:t>
            </a:r>
            <a:r>
              <a:rPr lang="en-GB" sz="1225"/>
              <a:t>brand</a:t>
            </a:r>
            <a:r>
              <a:rPr lang="en-GB" sz="1225"/>
              <a:t> in </a:t>
            </a:r>
            <a:r>
              <a:rPr lang="en-GB" sz="1225"/>
              <a:t>parallel.</a:t>
            </a:r>
            <a:endParaRPr sz="1225"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6955500" y="492250"/>
            <a:ext cx="2188500" cy="11223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1100">
                <a:solidFill>
                  <a:schemeClr val="dk1"/>
                </a:solidFill>
              </a:rPr>
              <a:t>Help us move faster.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900">
                <a:solidFill>
                  <a:schemeClr val="dk2"/>
                </a:solidFill>
              </a:rPr>
              <a:t>Max Barrass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900">
                <a:solidFill>
                  <a:schemeClr val="dk2"/>
                </a:solidFill>
              </a:rPr>
              <a:t>Founder &amp; CEO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900">
                <a:solidFill>
                  <a:schemeClr val="dk2"/>
                </a:solidFill>
              </a:rPr>
              <a:t>E: max.barrass@governance.foundation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900">
                <a:solidFill>
                  <a:schemeClr val="dk2"/>
                </a:solidFill>
              </a:rPr>
              <a:t>L: </a:t>
            </a:r>
            <a:r>
              <a:rPr lang="en-GB" sz="9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linkedin.com/in/MaxBarrass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900">
                <a:solidFill>
                  <a:schemeClr val="dk2"/>
                </a:solidFill>
              </a:rPr>
              <a:t>M: 0410 533 731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825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25">
              <a:solidFill>
                <a:schemeClr val="dk2"/>
              </a:solidFill>
            </a:endParaRPr>
          </a:p>
        </p:txBody>
      </p:sp>
      <p:grpSp>
        <p:nvGrpSpPr>
          <p:cNvPr id="204" name="Google Shape;204;p24"/>
          <p:cNvGrpSpPr/>
          <p:nvPr/>
        </p:nvGrpSpPr>
        <p:grpSpPr>
          <a:xfrm>
            <a:off x="1057883" y="2866679"/>
            <a:ext cx="5969400" cy="338700"/>
            <a:chOff x="1057883" y="2754900"/>
            <a:chExt cx="5969400" cy="338700"/>
          </a:xfrm>
        </p:grpSpPr>
        <p:sp>
          <p:nvSpPr>
            <p:cNvPr id="205" name="Google Shape;205;p24"/>
            <p:cNvSpPr txBox="1"/>
            <p:nvPr/>
          </p:nvSpPr>
          <p:spPr>
            <a:xfrm>
              <a:off x="1057883" y="2754900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Community Development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2926883" y="2825100"/>
              <a:ext cx="41004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4"/>
          <p:cNvGrpSpPr/>
          <p:nvPr/>
        </p:nvGrpSpPr>
        <p:grpSpPr>
          <a:xfrm>
            <a:off x="1057883" y="3510436"/>
            <a:ext cx="2859000" cy="338700"/>
            <a:chOff x="1057883" y="3435917"/>
            <a:chExt cx="2859000" cy="338700"/>
          </a:xfrm>
        </p:grpSpPr>
        <p:sp>
          <p:nvSpPr>
            <p:cNvPr id="208" name="Google Shape;208;p24"/>
            <p:cNvSpPr txBox="1"/>
            <p:nvPr/>
          </p:nvSpPr>
          <p:spPr>
            <a:xfrm>
              <a:off x="1057883" y="3435917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Technology</a:t>
              </a: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 PoC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2926883" y="3506125"/>
              <a:ext cx="990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24"/>
          <p:cNvGrpSpPr/>
          <p:nvPr/>
        </p:nvGrpSpPr>
        <p:grpSpPr>
          <a:xfrm>
            <a:off x="1057883" y="3832314"/>
            <a:ext cx="5047500" cy="338700"/>
            <a:chOff x="1057883" y="3776425"/>
            <a:chExt cx="5047500" cy="338700"/>
          </a:xfrm>
        </p:grpSpPr>
        <p:sp>
          <p:nvSpPr>
            <p:cNvPr id="211" name="Google Shape;211;p24"/>
            <p:cNvSpPr txBox="1"/>
            <p:nvPr/>
          </p:nvSpPr>
          <p:spPr>
            <a:xfrm>
              <a:off x="1057883" y="3776425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Product Development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3916883" y="3846650"/>
              <a:ext cx="21885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24"/>
          <p:cNvGrpSpPr/>
          <p:nvPr/>
        </p:nvGrpSpPr>
        <p:grpSpPr>
          <a:xfrm>
            <a:off x="1057883" y="4154193"/>
            <a:ext cx="5314500" cy="338700"/>
            <a:chOff x="1057883" y="4116933"/>
            <a:chExt cx="5314500" cy="338700"/>
          </a:xfrm>
        </p:grpSpPr>
        <p:sp>
          <p:nvSpPr>
            <p:cNvPr id="214" name="Google Shape;214;p24"/>
            <p:cNvSpPr txBox="1"/>
            <p:nvPr/>
          </p:nvSpPr>
          <p:spPr>
            <a:xfrm>
              <a:off x="1057883" y="4116933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Launch Beta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6105383" y="4187125"/>
              <a:ext cx="267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24"/>
          <p:cNvGrpSpPr/>
          <p:nvPr/>
        </p:nvGrpSpPr>
        <p:grpSpPr>
          <a:xfrm>
            <a:off x="1057883" y="4476071"/>
            <a:ext cx="5581500" cy="338700"/>
            <a:chOff x="1057883" y="4457442"/>
            <a:chExt cx="5581500" cy="338700"/>
          </a:xfrm>
        </p:grpSpPr>
        <p:sp>
          <p:nvSpPr>
            <p:cNvPr id="217" name="Google Shape;217;p24"/>
            <p:cNvSpPr txBox="1"/>
            <p:nvPr/>
          </p:nvSpPr>
          <p:spPr>
            <a:xfrm>
              <a:off x="1057883" y="4457442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Early Adopter Feedback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6372383" y="4527650"/>
              <a:ext cx="267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1057883" y="4797950"/>
            <a:ext cx="5848525" cy="338700"/>
            <a:chOff x="1057883" y="4797950"/>
            <a:chExt cx="5848525" cy="338700"/>
          </a:xfrm>
        </p:grpSpPr>
        <p:sp>
          <p:nvSpPr>
            <p:cNvPr id="220" name="Google Shape;220;p24"/>
            <p:cNvSpPr txBox="1"/>
            <p:nvPr/>
          </p:nvSpPr>
          <p:spPr>
            <a:xfrm>
              <a:off x="1057883" y="4797950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Launch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6639408" y="4868175"/>
              <a:ext cx="267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24"/>
          <p:cNvGrpSpPr/>
          <p:nvPr/>
        </p:nvGrpSpPr>
        <p:grpSpPr>
          <a:xfrm>
            <a:off x="1057883" y="3188557"/>
            <a:ext cx="5969250" cy="338700"/>
            <a:chOff x="1057883" y="3095408"/>
            <a:chExt cx="5969250" cy="338700"/>
          </a:xfrm>
        </p:grpSpPr>
        <p:sp>
          <p:nvSpPr>
            <p:cNvPr id="223" name="Google Shape;223;p24"/>
            <p:cNvSpPr txBox="1"/>
            <p:nvPr/>
          </p:nvSpPr>
          <p:spPr>
            <a:xfrm>
              <a:off x="1057883" y="3095408"/>
              <a:ext cx="186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Lato"/>
                  <a:ea typeface="Lato"/>
                  <a:cs typeface="Lato"/>
                  <a:sym typeface="Lato"/>
                </a:rPr>
                <a:t>Product Design</a:t>
              </a:r>
              <a:endParaRPr sz="1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2926883" y="3165600"/>
              <a:ext cx="990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3963633" y="3165600"/>
              <a:ext cx="990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5000383" y="3165600"/>
              <a:ext cx="990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6037133" y="3167788"/>
              <a:ext cx="990000" cy="198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24"/>
          <p:cNvGrpSpPr/>
          <p:nvPr/>
        </p:nvGrpSpPr>
        <p:grpSpPr>
          <a:xfrm>
            <a:off x="1041200" y="2514200"/>
            <a:ext cx="6006900" cy="369300"/>
            <a:chOff x="1041200" y="2514200"/>
            <a:chExt cx="6006900" cy="369300"/>
          </a:xfrm>
        </p:grpSpPr>
        <p:sp>
          <p:nvSpPr>
            <p:cNvPr id="229" name="Google Shape;229;p24"/>
            <p:cNvSpPr txBox="1"/>
            <p:nvPr/>
          </p:nvSpPr>
          <p:spPr>
            <a:xfrm>
              <a:off x="1041200" y="2514200"/>
              <a:ext cx="6006900" cy="369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Milestone</a:t>
              </a: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2876825" y="2615150"/>
              <a:ext cx="990000" cy="198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</a:rPr>
                <a:t>Q1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3913575" y="2615150"/>
              <a:ext cx="990000" cy="198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</a:rPr>
                <a:t>Q2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4950325" y="2615150"/>
              <a:ext cx="990000" cy="198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</a:rPr>
                <a:t>Q3</a:t>
              </a:r>
              <a:endParaRPr sz="900">
                <a:solidFill>
                  <a:schemeClr val="lt1"/>
                </a:solidFill>
              </a:endParaRPr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5987075" y="2615150"/>
              <a:ext cx="990000" cy="198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</a:rPr>
                <a:t>Q4</a:t>
              </a:r>
              <a:endParaRPr sz="9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