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5143500" cx="9144000"/>
  <p:notesSz cx="6858000" cy="9144000"/>
  <p:embeddedFontLst>
    <p:embeddedFont>
      <p:font typeface="Raleway"/>
      <p:regular r:id="rId17"/>
      <p:bold r:id="rId18"/>
      <p:italic r:id="rId19"/>
      <p:boldItalic r:id="rId20"/>
    </p:embeddedFont>
    <p:embeddedFont>
      <p:font typeface="Lato"/>
      <p:regular r:id="rId21"/>
      <p:bold r:id="rId22"/>
      <p:italic r:id="rId23"/>
      <p:boldItalic r:id="rId24"/>
    </p:embeddedFont>
    <p:embeddedFont>
      <p:font typeface="Metrophobic"/>
      <p:regular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aleway-boldItalic.fntdata"/><Relationship Id="rId22" Type="http://schemas.openxmlformats.org/officeDocument/2006/relationships/font" Target="fonts/Lato-bold.fntdata"/><Relationship Id="rId21" Type="http://schemas.openxmlformats.org/officeDocument/2006/relationships/font" Target="fonts/Lato-regular.fntdata"/><Relationship Id="rId24" Type="http://schemas.openxmlformats.org/officeDocument/2006/relationships/font" Target="fonts/Lato-boldItalic.fntdata"/><Relationship Id="rId23" Type="http://schemas.openxmlformats.org/officeDocument/2006/relationships/font" Target="fonts/Lato-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5" Type="http://schemas.openxmlformats.org/officeDocument/2006/relationships/font" Target="fonts/Metrophobic-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Raleway-regular.fntdata"/><Relationship Id="rId16" Type="http://schemas.openxmlformats.org/officeDocument/2006/relationships/slide" Target="slides/slide11.xml"/><Relationship Id="rId19" Type="http://schemas.openxmlformats.org/officeDocument/2006/relationships/font" Target="fonts/Raleway-italic.fntdata"/><Relationship Id="rId18" Type="http://schemas.openxmlformats.org/officeDocument/2006/relationships/font" Target="fonts/Raleway-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f2d316bae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f2d316bae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f2d316bae0_1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f2d316bae0_1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Primary focus, disrupt enterprise workforce experience platforms.</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Develop experiences that do not waste enterprise time, by eliminating old school ways of working. Typewriters have disappeared so should those ways of working. Focus on data and let data present it self in all the ways relevant.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Don’t waste human invaluable time, let people do what they are good at innovate, let computers do the rest.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People are not librarians, let computers sort it out.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People are not babysitters, let computers do that.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People are not assistants, let computers do that.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fec25b40a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fec25b40a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Levels</a:t>
            </a:r>
            <a:endParaRPr/>
          </a:p>
          <a:p>
            <a:pPr indent="0" lvl="0" marL="0" rtl="0" algn="l">
              <a:spcBef>
                <a:spcPts val="0"/>
              </a:spcBef>
              <a:spcAft>
                <a:spcPts val="0"/>
              </a:spcAft>
              <a:buNone/>
            </a:pPr>
            <a:r>
              <a:rPr lang="en-GB"/>
              <a:t>“known knows” - knowledge kept up to date </a:t>
            </a:r>
            <a:r>
              <a:rPr lang="en-GB"/>
              <a:t>recently</a:t>
            </a:r>
            <a:endParaRPr/>
          </a:p>
          <a:p>
            <a:pPr indent="0" lvl="0" marL="0" rtl="0" algn="l">
              <a:spcBef>
                <a:spcPts val="0"/>
              </a:spcBef>
              <a:spcAft>
                <a:spcPts val="0"/>
              </a:spcAft>
              <a:buNone/>
            </a:pPr>
            <a:r>
              <a:rPr lang="en-GB"/>
              <a:t>"known unknowns" - knowledge that is stale, need you to work in that space to refresh our common understanding</a:t>
            </a:r>
            <a:endParaRPr/>
          </a:p>
          <a:p>
            <a:pPr indent="0" lvl="0" marL="0" rtl="0" algn="l">
              <a:spcBef>
                <a:spcPts val="0"/>
              </a:spcBef>
              <a:spcAft>
                <a:spcPts val="0"/>
              </a:spcAft>
              <a:buNone/>
            </a:pPr>
            <a:r>
              <a:rPr lang="en-GB"/>
              <a:t>“unknown </a:t>
            </a:r>
            <a:r>
              <a:rPr lang="en-GB"/>
              <a:t>unknown”</a:t>
            </a:r>
            <a:r>
              <a:rPr lang="en-GB"/>
              <a:t> - knowledge that does not exist or is too long since it has been accessed, things that have not been explored but they are there</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This allows organisation to understand focus of the organisations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fec25b40a9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fec25b40a9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fec25b40a9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fec25b40a9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fec25b40a9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6" name="Google Shape;176;gfec25b40a9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fec25b40a9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fec25b40a9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fec25b40a9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fec25b40a9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fec25b40a9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fec25b40a9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fec25b40a9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fec25b40a9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fec25b40a9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fec25b40a9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txBox="1"/>
          <p:nvPr>
            <p:ph type="ctrTitle"/>
          </p:nvPr>
        </p:nvSpPr>
        <p:spPr>
          <a:xfrm>
            <a:off x="729450" y="2153525"/>
            <a:ext cx="7688100" cy="8337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2" name="Google Shape;12;p2"/>
          <p:cNvSpPr txBox="1"/>
          <p:nvPr>
            <p:ph idx="1" type="subTitle"/>
          </p:nvPr>
        </p:nvSpPr>
        <p:spPr>
          <a:xfrm>
            <a:off x="729627" y="3172900"/>
            <a:ext cx="7688100" cy="5412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3" name="Google Shape;13;p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grpSp>
        <p:nvGrpSpPr>
          <p:cNvPr id="14" name="Google Shape;14;p2"/>
          <p:cNvGrpSpPr/>
          <p:nvPr/>
        </p:nvGrpSpPr>
        <p:grpSpPr>
          <a:xfrm>
            <a:off x="891600" y="568325"/>
            <a:ext cx="4007025" cy="583675"/>
            <a:chOff x="891600" y="568325"/>
            <a:chExt cx="4007025" cy="583675"/>
          </a:xfrm>
        </p:grpSpPr>
        <p:grpSp>
          <p:nvGrpSpPr>
            <p:cNvPr id="15" name="Google Shape;15;p2"/>
            <p:cNvGrpSpPr/>
            <p:nvPr/>
          </p:nvGrpSpPr>
          <p:grpSpPr>
            <a:xfrm rot="5400000">
              <a:off x="1318062" y="841069"/>
              <a:ext cx="563953" cy="45826"/>
              <a:chOff x="4580561" y="2589004"/>
              <a:chExt cx="1064464" cy="25200"/>
            </a:xfrm>
          </p:grpSpPr>
          <p:sp>
            <p:nvSpPr>
              <p:cNvPr id="16" name="Google Shape;16;p2"/>
              <p:cNvSpPr/>
              <p:nvPr/>
            </p:nvSpPr>
            <p:spPr>
              <a:xfrm rot="-5400000">
                <a:off x="5366325" y="2335504"/>
                <a:ext cx="25200" cy="5322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rot="-5400000">
                <a:off x="4836311" y="2333254"/>
                <a:ext cx="25200" cy="5367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8" name="Google Shape;18;p2"/>
            <p:cNvPicPr preferRelativeResize="0"/>
            <p:nvPr/>
          </p:nvPicPr>
          <p:blipFill>
            <a:blip r:embed="rId2">
              <a:alphaModFix/>
            </a:blip>
            <a:stretch>
              <a:fillRect/>
            </a:stretch>
          </p:blipFill>
          <p:spPr>
            <a:xfrm>
              <a:off x="891600" y="568325"/>
              <a:ext cx="493850" cy="567250"/>
            </a:xfrm>
            <a:prstGeom prst="rect">
              <a:avLst/>
            </a:prstGeom>
            <a:noFill/>
            <a:ln>
              <a:noFill/>
            </a:ln>
          </p:spPr>
        </p:pic>
        <p:sp>
          <p:nvSpPr>
            <p:cNvPr id="19" name="Google Shape;19;p2"/>
            <p:cNvSpPr txBox="1"/>
            <p:nvPr/>
          </p:nvSpPr>
          <p:spPr>
            <a:xfrm>
              <a:off x="1814625" y="597900"/>
              <a:ext cx="3084000" cy="554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GB" sz="2400">
                  <a:latin typeface="Metrophobic"/>
                  <a:ea typeface="Metrophobic"/>
                  <a:cs typeface="Metrophobic"/>
                  <a:sym typeface="Metrophobic"/>
                </a:rPr>
                <a:t>Knowledge.Fund</a:t>
              </a:r>
              <a:endParaRPr sz="2400">
                <a:latin typeface="Metrophobic"/>
                <a:ea typeface="Metrophobic"/>
                <a:cs typeface="Metrophobic"/>
                <a:sym typeface="Metrophobic"/>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20" name="Shape 20"/>
        <p:cNvGrpSpPr/>
        <p:nvPr/>
      </p:nvGrpSpPr>
      <p:grpSpPr>
        <a:xfrm>
          <a:off x="0" y="0"/>
          <a:ext cx="0" cy="0"/>
          <a:chOff x="0" y="0"/>
          <a:chExt cx="0" cy="0"/>
        </a:xfrm>
      </p:grpSpPr>
      <p:sp>
        <p:nvSpPr>
          <p:cNvPr id="21" name="Google Shape;21;p3"/>
          <p:cNvSpPr txBox="1"/>
          <p:nvPr>
            <p:ph type="title"/>
          </p:nvPr>
        </p:nvSpPr>
        <p:spPr>
          <a:xfrm>
            <a:off x="729450" y="1322450"/>
            <a:ext cx="7688400" cy="15186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22" name="Google Shape;22;p3"/>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GB"/>
              <a:t>‹#›</a:t>
            </a:fld>
            <a:endParaRPr/>
          </a:p>
        </p:txBody>
      </p:sp>
      <p:grpSp>
        <p:nvGrpSpPr>
          <p:cNvPr id="23" name="Google Shape;23;p3"/>
          <p:cNvGrpSpPr/>
          <p:nvPr/>
        </p:nvGrpSpPr>
        <p:grpSpPr>
          <a:xfrm>
            <a:off x="891600" y="568325"/>
            <a:ext cx="4007025" cy="583675"/>
            <a:chOff x="891600" y="568325"/>
            <a:chExt cx="4007025" cy="583675"/>
          </a:xfrm>
        </p:grpSpPr>
        <p:grpSp>
          <p:nvGrpSpPr>
            <p:cNvPr id="24" name="Google Shape;24;p3"/>
            <p:cNvGrpSpPr/>
            <p:nvPr/>
          </p:nvGrpSpPr>
          <p:grpSpPr>
            <a:xfrm rot="5400000">
              <a:off x="1318062" y="841069"/>
              <a:ext cx="563953" cy="45826"/>
              <a:chOff x="4580561" y="2589004"/>
              <a:chExt cx="1064464" cy="25200"/>
            </a:xfrm>
          </p:grpSpPr>
          <p:sp>
            <p:nvSpPr>
              <p:cNvPr id="25" name="Google Shape;25;p3"/>
              <p:cNvSpPr/>
              <p:nvPr/>
            </p:nvSpPr>
            <p:spPr>
              <a:xfrm rot="-5400000">
                <a:off x="5366325" y="2335504"/>
                <a:ext cx="25200" cy="5322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rot="-5400000">
                <a:off x="4836311" y="2333254"/>
                <a:ext cx="25200" cy="5367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7" name="Google Shape;27;p3"/>
            <p:cNvPicPr preferRelativeResize="0"/>
            <p:nvPr/>
          </p:nvPicPr>
          <p:blipFill>
            <a:blip r:embed="rId2">
              <a:alphaModFix/>
            </a:blip>
            <a:stretch>
              <a:fillRect/>
            </a:stretch>
          </p:blipFill>
          <p:spPr>
            <a:xfrm>
              <a:off x="891600" y="568325"/>
              <a:ext cx="493850" cy="567250"/>
            </a:xfrm>
            <a:prstGeom prst="rect">
              <a:avLst/>
            </a:prstGeom>
            <a:noFill/>
            <a:ln>
              <a:noFill/>
            </a:ln>
          </p:spPr>
        </p:pic>
        <p:sp>
          <p:nvSpPr>
            <p:cNvPr id="28" name="Google Shape;28;p3"/>
            <p:cNvSpPr txBox="1"/>
            <p:nvPr/>
          </p:nvSpPr>
          <p:spPr>
            <a:xfrm>
              <a:off x="1814625" y="597900"/>
              <a:ext cx="3084000" cy="554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GB" sz="2400">
                  <a:latin typeface="Metrophobic"/>
                  <a:ea typeface="Metrophobic"/>
                  <a:cs typeface="Metrophobic"/>
                  <a:sym typeface="Metrophobic"/>
                </a:rPr>
                <a:t>Knowledge.Fund</a:t>
              </a:r>
              <a:endParaRPr sz="2400">
                <a:latin typeface="Metrophobic"/>
                <a:ea typeface="Metrophobic"/>
                <a:cs typeface="Metrophobic"/>
                <a:sym typeface="Metrophobic"/>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p4"/>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txBox="1"/>
          <p:nvPr>
            <p:ph type="title"/>
          </p:nvPr>
        </p:nvSpPr>
        <p:spPr>
          <a:xfrm>
            <a:off x="729450" y="1318650"/>
            <a:ext cx="76887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32" name="Google Shape;32;p4"/>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3" name="Google Shape;33;p4"/>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grpSp>
        <p:nvGrpSpPr>
          <p:cNvPr id="34" name="Google Shape;34;p4"/>
          <p:cNvGrpSpPr/>
          <p:nvPr/>
        </p:nvGrpSpPr>
        <p:grpSpPr>
          <a:xfrm>
            <a:off x="891600" y="568325"/>
            <a:ext cx="4007025" cy="583675"/>
            <a:chOff x="891600" y="568325"/>
            <a:chExt cx="4007025" cy="583675"/>
          </a:xfrm>
        </p:grpSpPr>
        <p:grpSp>
          <p:nvGrpSpPr>
            <p:cNvPr id="35" name="Google Shape;35;p4"/>
            <p:cNvGrpSpPr/>
            <p:nvPr/>
          </p:nvGrpSpPr>
          <p:grpSpPr>
            <a:xfrm rot="5400000">
              <a:off x="1318062" y="841069"/>
              <a:ext cx="563953" cy="45826"/>
              <a:chOff x="4580561" y="2589004"/>
              <a:chExt cx="1064464" cy="25200"/>
            </a:xfrm>
          </p:grpSpPr>
          <p:sp>
            <p:nvSpPr>
              <p:cNvPr id="36" name="Google Shape;36;p4"/>
              <p:cNvSpPr/>
              <p:nvPr/>
            </p:nvSpPr>
            <p:spPr>
              <a:xfrm rot="-5400000">
                <a:off x="5366325" y="2335504"/>
                <a:ext cx="25200" cy="5322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rot="-5400000">
                <a:off x="4836311" y="2333254"/>
                <a:ext cx="25200" cy="5367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8" name="Google Shape;38;p4"/>
            <p:cNvPicPr preferRelativeResize="0"/>
            <p:nvPr/>
          </p:nvPicPr>
          <p:blipFill>
            <a:blip r:embed="rId2">
              <a:alphaModFix/>
            </a:blip>
            <a:stretch>
              <a:fillRect/>
            </a:stretch>
          </p:blipFill>
          <p:spPr>
            <a:xfrm>
              <a:off x="891600" y="568325"/>
              <a:ext cx="493850" cy="567250"/>
            </a:xfrm>
            <a:prstGeom prst="rect">
              <a:avLst/>
            </a:prstGeom>
            <a:noFill/>
            <a:ln>
              <a:noFill/>
            </a:ln>
          </p:spPr>
        </p:pic>
        <p:sp>
          <p:nvSpPr>
            <p:cNvPr id="39" name="Google Shape;39;p4"/>
            <p:cNvSpPr txBox="1"/>
            <p:nvPr/>
          </p:nvSpPr>
          <p:spPr>
            <a:xfrm>
              <a:off x="1814625" y="597900"/>
              <a:ext cx="3084000" cy="554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GB" sz="2400">
                  <a:latin typeface="Metrophobic"/>
                  <a:ea typeface="Metrophobic"/>
                  <a:cs typeface="Metrophobic"/>
                  <a:sym typeface="Metrophobic"/>
                </a:rPr>
                <a:t>Knowledge.Fund</a:t>
              </a:r>
              <a:endParaRPr sz="2400">
                <a:latin typeface="Metrophobic"/>
                <a:ea typeface="Metrophobic"/>
                <a:cs typeface="Metrophobic"/>
                <a:sym typeface="Metrophobic"/>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 name="Shape 40"/>
        <p:cNvGrpSpPr/>
        <p:nvPr/>
      </p:nvGrpSpPr>
      <p:grpSpPr>
        <a:xfrm>
          <a:off x="0" y="0"/>
          <a:ext cx="0" cy="0"/>
          <a:chOff x="0" y="0"/>
          <a:chExt cx="0" cy="0"/>
        </a:xfrm>
      </p:grpSpPr>
      <p:sp>
        <p:nvSpPr>
          <p:cNvPr id="41" name="Google Shape;41;p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5"/>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43" name="Google Shape;43;p5"/>
          <p:cNvSpPr txBox="1"/>
          <p:nvPr>
            <p:ph idx="1" type="body"/>
          </p:nvPr>
        </p:nvSpPr>
        <p:spPr>
          <a:xfrm>
            <a:off x="729325"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4" name="Google Shape;44;p5"/>
          <p:cNvSpPr txBox="1"/>
          <p:nvPr>
            <p:ph idx="2" type="body"/>
          </p:nvPr>
        </p:nvSpPr>
        <p:spPr>
          <a:xfrm>
            <a:off x="4643604"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5" name="Google Shape;45;p5"/>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grpSp>
        <p:nvGrpSpPr>
          <p:cNvPr id="46" name="Google Shape;46;p5"/>
          <p:cNvGrpSpPr/>
          <p:nvPr/>
        </p:nvGrpSpPr>
        <p:grpSpPr>
          <a:xfrm>
            <a:off x="891600" y="568325"/>
            <a:ext cx="4007025" cy="583675"/>
            <a:chOff x="891600" y="568325"/>
            <a:chExt cx="4007025" cy="583675"/>
          </a:xfrm>
        </p:grpSpPr>
        <p:grpSp>
          <p:nvGrpSpPr>
            <p:cNvPr id="47" name="Google Shape;47;p5"/>
            <p:cNvGrpSpPr/>
            <p:nvPr/>
          </p:nvGrpSpPr>
          <p:grpSpPr>
            <a:xfrm rot="5400000">
              <a:off x="1318062" y="841069"/>
              <a:ext cx="563953" cy="45826"/>
              <a:chOff x="4580561" y="2589004"/>
              <a:chExt cx="1064464" cy="25200"/>
            </a:xfrm>
          </p:grpSpPr>
          <p:sp>
            <p:nvSpPr>
              <p:cNvPr id="48" name="Google Shape;48;p5"/>
              <p:cNvSpPr/>
              <p:nvPr/>
            </p:nvSpPr>
            <p:spPr>
              <a:xfrm rot="-5400000">
                <a:off x="5366325" y="2335504"/>
                <a:ext cx="25200" cy="5322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5"/>
              <p:cNvSpPr/>
              <p:nvPr/>
            </p:nvSpPr>
            <p:spPr>
              <a:xfrm rot="-5400000">
                <a:off x="4836311" y="2333254"/>
                <a:ext cx="25200" cy="5367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50" name="Google Shape;50;p5"/>
            <p:cNvPicPr preferRelativeResize="0"/>
            <p:nvPr/>
          </p:nvPicPr>
          <p:blipFill>
            <a:blip r:embed="rId2">
              <a:alphaModFix/>
            </a:blip>
            <a:stretch>
              <a:fillRect/>
            </a:stretch>
          </p:blipFill>
          <p:spPr>
            <a:xfrm>
              <a:off x="891600" y="568325"/>
              <a:ext cx="493850" cy="567250"/>
            </a:xfrm>
            <a:prstGeom prst="rect">
              <a:avLst/>
            </a:prstGeom>
            <a:noFill/>
            <a:ln>
              <a:noFill/>
            </a:ln>
          </p:spPr>
        </p:pic>
        <p:sp>
          <p:nvSpPr>
            <p:cNvPr id="51" name="Google Shape;51;p5"/>
            <p:cNvSpPr txBox="1"/>
            <p:nvPr/>
          </p:nvSpPr>
          <p:spPr>
            <a:xfrm>
              <a:off x="1814625" y="597900"/>
              <a:ext cx="3084000" cy="554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GB" sz="2400">
                  <a:latin typeface="Metrophobic"/>
                  <a:ea typeface="Metrophobic"/>
                  <a:cs typeface="Metrophobic"/>
                  <a:sym typeface="Metrophobic"/>
                </a:rPr>
                <a:t>Knowledge.Fund</a:t>
              </a:r>
              <a:endParaRPr sz="2400">
                <a:latin typeface="Metrophobic"/>
                <a:ea typeface="Metrophobic"/>
                <a:cs typeface="Metrophobic"/>
                <a:sym typeface="Metrophobic"/>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 name="Shape 52"/>
        <p:cNvGrpSpPr/>
        <p:nvPr/>
      </p:nvGrpSpPr>
      <p:grpSpPr>
        <a:xfrm>
          <a:off x="0" y="0"/>
          <a:ext cx="0" cy="0"/>
          <a:chOff x="0" y="0"/>
          <a:chExt cx="0" cy="0"/>
        </a:xfrm>
      </p:grpSpPr>
      <p:sp>
        <p:nvSpPr>
          <p:cNvPr id="53" name="Google Shape;53;p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55" name="Google Shape;55;p6"/>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grpSp>
        <p:nvGrpSpPr>
          <p:cNvPr id="56" name="Google Shape;56;p6"/>
          <p:cNvGrpSpPr/>
          <p:nvPr/>
        </p:nvGrpSpPr>
        <p:grpSpPr>
          <a:xfrm>
            <a:off x="891600" y="568325"/>
            <a:ext cx="4007025" cy="583675"/>
            <a:chOff x="891600" y="568325"/>
            <a:chExt cx="4007025" cy="583675"/>
          </a:xfrm>
        </p:grpSpPr>
        <p:grpSp>
          <p:nvGrpSpPr>
            <p:cNvPr id="57" name="Google Shape;57;p6"/>
            <p:cNvGrpSpPr/>
            <p:nvPr/>
          </p:nvGrpSpPr>
          <p:grpSpPr>
            <a:xfrm rot="5400000">
              <a:off x="1318062" y="841069"/>
              <a:ext cx="563953" cy="45826"/>
              <a:chOff x="4580561" y="2589004"/>
              <a:chExt cx="1064464" cy="25200"/>
            </a:xfrm>
          </p:grpSpPr>
          <p:sp>
            <p:nvSpPr>
              <p:cNvPr id="58" name="Google Shape;58;p6"/>
              <p:cNvSpPr/>
              <p:nvPr/>
            </p:nvSpPr>
            <p:spPr>
              <a:xfrm rot="-5400000">
                <a:off x="5366325" y="2335504"/>
                <a:ext cx="25200" cy="5322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rot="-5400000">
                <a:off x="4836311" y="2333254"/>
                <a:ext cx="25200" cy="5367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60" name="Google Shape;60;p6"/>
            <p:cNvPicPr preferRelativeResize="0"/>
            <p:nvPr/>
          </p:nvPicPr>
          <p:blipFill>
            <a:blip r:embed="rId2">
              <a:alphaModFix/>
            </a:blip>
            <a:stretch>
              <a:fillRect/>
            </a:stretch>
          </p:blipFill>
          <p:spPr>
            <a:xfrm>
              <a:off x="891600" y="568325"/>
              <a:ext cx="493850" cy="567250"/>
            </a:xfrm>
            <a:prstGeom prst="rect">
              <a:avLst/>
            </a:prstGeom>
            <a:noFill/>
            <a:ln>
              <a:noFill/>
            </a:ln>
          </p:spPr>
        </p:pic>
        <p:sp>
          <p:nvSpPr>
            <p:cNvPr id="61" name="Google Shape;61;p6"/>
            <p:cNvSpPr txBox="1"/>
            <p:nvPr/>
          </p:nvSpPr>
          <p:spPr>
            <a:xfrm>
              <a:off x="1814625" y="597900"/>
              <a:ext cx="3084000" cy="554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GB" sz="2400">
                  <a:latin typeface="Metrophobic"/>
                  <a:ea typeface="Metrophobic"/>
                  <a:cs typeface="Metrophobic"/>
                  <a:sym typeface="Metrophobic"/>
                </a:rPr>
                <a:t>Knowledge.Fund</a:t>
              </a:r>
              <a:endParaRPr sz="2400">
                <a:latin typeface="Metrophobic"/>
                <a:ea typeface="Metrophobic"/>
                <a:cs typeface="Metrophobic"/>
                <a:sym typeface="Metrophobic"/>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sp>
        <p:nvSpPr>
          <p:cNvPr id="63" name="Google Shape;63;p7"/>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txBox="1"/>
          <p:nvPr>
            <p:ph type="title"/>
          </p:nvPr>
        </p:nvSpPr>
        <p:spPr>
          <a:xfrm>
            <a:off x="730000" y="1318650"/>
            <a:ext cx="3300900" cy="13815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65" name="Google Shape;65;p7"/>
          <p:cNvSpPr txBox="1"/>
          <p:nvPr>
            <p:ph idx="1" type="body"/>
          </p:nvPr>
        </p:nvSpPr>
        <p:spPr>
          <a:xfrm>
            <a:off x="721225" y="2781725"/>
            <a:ext cx="3300900" cy="159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6" name="Google Shape;66;p7"/>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grpSp>
        <p:nvGrpSpPr>
          <p:cNvPr id="67" name="Google Shape;67;p7"/>
          <p:cNvGrpSpPr/>
          <p:nvPr/>
        </p:nvGrpSpPr>
        <p:grpSpPr>
          <a:xfrm>
            <a:off x="891600" y="568325"/>
            <a:ext cx="4007025" cy="583675"/>
            <a:chOff x="891600" y="568325"/>
            <a:chExt cx="4007025" cy="583675"/>
          </a:xfrm>
        </p:grpSpPr>
        <p:grpSp>
          <p:nvGrpSpPr>
            <p:cNvPr id="68" name="Google Shape;68;p7"/>
            <p:cNvGrpSpPr/>
            <p:nvPr/>
          </p:nvGrpSpPr>
          <p:grpSpPr>
            <a:xfrm rot="5400000">
              <a:off x="1318062" y="841069"/>
              <a:ext cx="563953" cy="45826"/>
              <a:chOff x="4580561" y="2589004"/>
              <a:chExt cx="1064464" cy="25200"/>
            </a:xfrm>
          </p:grpSpPr>
          <p:sp>
            <p:nvSpPr>
              <p:cNvPr id="69" name="Google Shape;69;p7"/>
              <p:cNvSpPr/>
              <p:nvPr/>
            </p:nvSpPr>
            <p:spPr>
              <a:xfrm rot="-5400000">
                <a:off x="5366325" y="2335504"/>
                <a:ext cx="25200" cy="5322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7"/>
              <p:cNvSpPr/>
              <p:nvPr/>
            </p:nvSpPr>
            <p:spPr>
              <a:xfrm rot="-5400000">
                <a:off x="4836311" y="2333254"/>
                <a:ext cx="25200" cy="5367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71" name="Google Shape;71;p7"/>
            <p:cNvPicPr preferRelativeResize="0"/>
            <p:nvPr/>
          </p:nvPicPr>
          <p:blipFill>
            <a:blip r:embed="rId2">
              <a:alphaModFix/>
            </a:blip>
            <a:stretch>
              <a:fillRect/>
            </a:stretch>
          </p:blipFill>
          <p:spPr>
            <a:xfrm>
              <a:off x="891600" y="568325"/>
              <a:ext cx="493850" cy="567250"/>
            </a:xfrm>
            <a:prstGeom prst="rect">
              <a:avLst/>
            </a:prstGeom>
            <a:noFill/>
            <a:ln>
              <a:noFill/>
            </a:ln>
          </p:spPr>
        </p:pic>
        <p:sp>
          <p:nvSpPr>
            <p:cNvPr id="72" name="Google Shape;72;p7"/>
            <p:cNvSpPr txBox="1"/>
            <p:nvPr/>
          </p:nvSpPr>
          <p:spPr>
            <a:xfrm>
              <a:off x="1814625" y="597900"/>
              <a:ext cx="3084000" cy="554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GB" sz="2400">
                  <a:latin typeface="Metrophobic"/>
                  <a:ea typeface="Metrophobic"/>
                  <a:cs typeface="Metrophobic"/>
                  <a:sym typeface="Metrophobic"/>
                </a:rPr>
                <a:t>Knowledge.Fund</a:t>
              </a:r>
              <a:endParaRPr sz="2400">
                <a:latin typeface="Metrophobic"/>
                <a:ea typeface="Metrophobic"/>
                <a:cs typeface="Metrophobic"/>
                <a:sym typeface="Metrophobic"/>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1"/>
        </a:solidFill>
      </p:bgPr>
    </p:bg>
    <p:spTree>
      <p:nvGrpSpPr>
        <p:cNvPr id="73" name="Shape 73"/>
        <p:cNvGrpSpPr/>
        <p:nvPr/>
      </p:nvGrpSpPr>
      <p:grpSpPr>
        <a:xfrm>
          <a:off x="0" y="0"/>
          <a:ext cx="0" cy="0"/>
          <a:chOff x="0" y="0"/>
          <a:chExt cx="0" cy="0"/>
        </a:xfrm>
      </p:grpSpPr>
      <p:grpSp>
        <p:nvGrpSpPr>
          <p:cNvPr id="74" name="Google Shape;74;p8"/>
          <p:cNvGrpSpPr/>
          <p:nvPr/>
        </p:nvGrpSpPr>
        <p:grpSpPr>
          <a:xfrm>
            <a:off x="830392" y="4169130"/>
            <a:ext cx="745763" cy="45826"/>
            <a:chOff x="4580561" y="2589004"/>
            <a:chExt cx="1064464" cy="25200"/>
          </a:xfrm>
        </p:grpSpPr>
        <p:sp>
          <p:nvSpPr>
            <p:cNvPr id="75" name="Google Shape;75;p8"/>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 name="Google Shape;77;p8"/>
          <p:cNvSpPr txBox="1"/>
          <p:nvPr>
            <p:ph type="title"/>
          </p:nvPr>
        </p:nvSpPr>
        <p:spPr>
          <a:xfrm>
            <a:off x="729450" y="864300"/>
            <a:ext cx="7021200" cy="2354400"/>
          </a:xfrm>
          <a:prstGeom prst="rect">
            <a:avLst/>
          </a:prstGeom>
        </p:spPr>
        <p:txBody>
          <a:bodyPr anchorCtr="0" anchor="ctr"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78" name="Google Shape;78;p8"/>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GB"/>
              <a:t>‹#›</a:t>
            </a:fld>
            <a:endParaRPr/>
          </a:p>
        </p:txBody>
      </p:sp>
      <p:grpSp>
        <p:nvGrpSpPr>
          <p:cNvPr id="79" name="Google Shape;79;p8"/>
          <p:cNvGrpSpPr/>
          <p:nvPr/>
        </p:nvGrpSpPr>
        <p:grpSpPr>
          <a:xfrm>
            <a:off x="830400" y="3448775"/>
            <a:ext cx="4007025" cy="583675"/>
            <a:chOff x="891600" y="568325"/>
            <a:chExt cx="4007025" cy="583675"/>
          </a:xfrm>
        </p:grpSpPr>
        <p:grpSp>
          <p:nvGrpSpPr>
            <p:cNvPr id="80" name="Google Shape;80;p8"/>
            <p:cNvGrpSpPr/>
            <p:nvPr/>
          </p:nvGrpSpPr>
          <p:grpSpPr>
            <a:xfrm rot="5400000">
              <a:off x="1318062" y="841069"/>
              <a:ext cx="563953" cy="45826"/>
              <a:chOff x="4580561" y="2589004"/>
              <a:chExt cx="1064464" cy="25200"/>
            </a:xfrm>
          </p:grpSpPr>
          <p:sp>
            <p:nvSpPr>
              <p:cNvPr id="81" name="Google Shape;81;p8"/>
              <p:cNvSpPr/>
              <p:nvPr/>
            </p:nvSpPr>
            <p:spPr>
              <a:xfrm rot="-5400000">
                <a:off x="5366325" y="2335504"/>
                <a:ext cx="25200" cy="5322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4836311" y="2333254"/>
                <a:ext cx="25200" cy="5367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83" name="Google Shape;83;p8"/>
            <p:cNvPicPr preferRelativeResize="0"/>
            <p:nvPr/>
          </p:nvPicPr>
          <p:blipFill>
            <a:blip r:embed="rId2">
              <a:alphaModFix/>
            </a:blip>
            <a:stretch>
              <a:fillRect/>
            </a:stretch>
          </p:blipFill>
          <p:spPr>
            <a:xfrm>
              <a:off x="891600" y="568325"/>
              <a:ext cx="493850" cy="567250"/>
            </a:xfrm>
            <a:prstGeom prst="rect">
              <a:avLst/>
            </a:prstGeom>
            <a:noFill/>
            <a:ln>
              <a:noFill/>
            </a:ln>
          </p:spPr>
        </p:pic>
        <p:sp>
          <p:nvSpPr>
            <p:cNvPr id="84" name="Google Shape;84;p8"/>
            <p:cNvSpPr txBox="1"/>
            <p:nvPr/>
          </p:nvSpPr>
          <p:spPr>
            <a:xfrm>
              <a:off x="1814625" y="597900"/>
              <a:ext cx="3084000" cy="554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GB" sz="2400">
                  <a:latin typeface="Metrophobic"/>
                  <a:ea typeface="Metrophobic"/>
                  <a:cs typeface="Metrophobic"/>
                  <a:sym typeface="Metrophobic"/>
                </a:rPr>
                <a:t>Knowledge.Fund</a:t>
              </a:r>
              <a:endParaRPr sz="2400">
                <a:latin typeface="Metrophobic"/>
                <a:ea typeface="Metrophobic"/>
                <a:cs typeface="Metrophobic"/>
                <a:sym typeface="Metrophobic"/>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5" name="Shape 85"/>
        <p:cNvGrpSpPr/>
        <p:nvPr/>
      </p:nvGrpSpPr>
      <p:grpSpPr>
        <a:xfrm>
          <a:off x="0" y="0"/>
          <a:ext cx="0" cy="0"/>
          <a:chOff x="0" y="0"/>
          <a:chExt cx="0" cy="0"/>
        </a:xfrm>
      </p:grpSpPr>
      <p:sp>
        <p:nvSpPr>
          <p:cNvPr id="86" name="Google Shape;86;p9"/>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 name="Google Shape;87;p9"/>
          <p:cNvGrpSpPr/>
          <p:nvPr/>
        </p:nvGrpSpPr>
        <p:grpSpPr>
          <a:xfrm>
            <a:off x="830392" y="1191256"/>
            <a:ext cx="745763" cy="45826"/>
            <a:chOff x="4580561" y="2589004"/>
            <a:chExt cx="1064464" cy="25200"/>
          </a:xfrm>
        </p:grpSpPr>
        <p:sp>
          <p:nvSpPr>
            <p:cNvPr id="88" name="Google Shape;88;p9"/>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9"/>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 name="Google Shape;90;p9"/>
          <p:cNvSpPr txBox="1"/>
          <p:nvPr>
            <p:ph type="title"/>
          </p:nvPr>
        </p:nvSpPr>
        <p:spPr>
          <a:xfrm>
            <a:off x="730000" y="1318650"/>
            <a:ext cx="3300900" cy="1687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91" name="Google Shape;91;p9"/>
          <p:cNvSpPr txBox="1"/>
          <p:nvPr>
            <p:ph idx="1" type="subTitle"/>
          </p:nvPr>
        </p:nvSpPr>
        <p:spPr>
          <a:xfrm>
            <a:off x="724950" y="3161525"/>
            <a:ext cx="3300900" cy="7590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92" name="Google Shape;92;p9"/>
          <p:cNvSpPr txBox="1"/>
          <p:nvPr>
            <p:ph idx="2" type="body"/>
          </p:nvPr>
        </p:nvSpPr>
        <p:spPr>
          <a:xfrm>
            <a:off x="5174225" y="1352625"/>
            <a:ext cx="3374400" cy="3025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3" name="Google Shape;93;p9"/>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4" name="Shape 94"/>
        <p:cNvGrpSpPr/>
        <p:nvPr/>
      </p:nvGrpSpPr>
      <p:grpSpPr>
        <a:xfrm>
          <a:off x="0" y="0"/>
          <a:ext cx="0" cy="0"/>
          <a:chOff x="0" y="0"/>
          <a:chExt cx="0" cy="0"/>
        </a:xfrm>
      </p:grpSpPr>
      <p:sp>
        <p:nvSpPr>
          <p:cNvPr id="95" name="Google Shape;95;p10"/>
          <p:cNvSpPr txBox="1"/>
          <p:nvPr>
            <p:ph idx="1" type="body"/>
          </p:nvPr>
        </p:nvSpPr>
        <p:spPr>
          <a:xfrm>
            <a:off x="724950" y="4372551"/>
            <a:ext cx="7697400" cy="4605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96" name="Google Shape;96;p10"/>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lt1"/>
        </a:solidFill>
      </p:bgPr>
    </p:bg>
    <p:spTree>
      <p:nvGrpSpPr>
        <p:cNvPr id="97" name="Shape 97"/>
        <p:cNvGrpSpPr/>
        <p:nvPr/>
      </p:nvGrpSpPr>
      <p:grpSpPr>
        <a:xfrm>
          <a:off x="0" y="0"/>
          <a:ext cx="0" cy="0"/>
          <a:chOff x="0" y="0"/>
          <a:chExt cx="0" cy="0"/>
        </a:xfrm>
      </p:grpSpPr>
      <p:sp>
        <p:nvSpPr>
          <p:cNvPr id="98" name="Google Shape;98;p11"/>
          <p:cNvSpPr txBox="1"/>
          <p:nvPr>
            <p:ph hasCustomPrompt="1" type="title"/>
          </p:nvPr>
        </p:nvSpPr>
        <p:spPr>
          <a:xfrm>
            <a:off x="729450" y="733950"/>
            <a:ext cx="7688400" cy="12447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99" name="Google Shape;99;p11"/>
          <p:cNvSpPr txBox="1"/>
          <p:nvPr>
            <p:ph idx="1" type="body"/>
          </p:nvPr>
        </p:nvSpPr>
        <p:spPr>
          <a:xfrm>
            <a:off x="729450" y="2272888"/>
            <a:ext cx="7688400" cy="15804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dk2"/>
              </a:buClr>
              <a:buSzPts val="1300"/>
              <a:buChar char="●"/>
              <a:defRPr>
                <a:solidFill>
                  <a:schemeClr val="dk2"/>
                </a:solidFill>
              </a:defRPr>
            </a:lvl1pPr>
            <a:lvl2pPr indent="-298450" lvl="1" marL="914400">
              <a:spcBef>
                <a:spcPts val="0"/>
              </a:spcBef>
              <a:spcAft>
                <a:spcPts val="0"/>
              </a:spcAft>
              <a:buClr>
                <a:schemeClr val="dk2"/>
              </a:buClr>
              <a:buSzPts val="1100"/>
              <a:buChar char="○"/>
              <a:defRPr>
                <a:solidFill>
                  <a:schemeClr val="dk2"/>
                </a:solidFill>
              </a:defRPr>
            </a:lvl2pPr>
            <a:lvl3pPr indent="-298450" lvl="2" marL="1371600">
              <a:spcBef>
                <a:spcPts val="0"/>
              </a:spcBef>
              <a:spcAft>
                <a:spcPts val="0"/>
              </a:spcAft>
              <a:buClr>
                <a:schemeClr val="dk2"/>
              </a:buClr>
              <a:buSzPts val="1100"/>
              <a:buChar char="■"/>
              <a:defRPr>
                <a:solidFill>
                  <a:schemeClr val="dk2"/>
                </a:solidFill>
              </a:defRPr>
            </a:lvl3pPr>
            <a:lvl4pPr indent="-298450" lvl="3" marL="1828800">
              <a:spcBef>
                <a:spcPts val="0"/>
              </a:spcBef>
              <a:spcAft>
                <a:spcPts val="0"/>
              </a:spcAft>
              <a:buClr>
                <a:schemeClr val="dk2"/>
              </a:buClr>
              <a:buSzPts val="1100"/>
              <a:buChar char="●"/>
              <a:defRPr>
                <a:solidFill>
                  <a:schemeClr val="dk2"/>
                </a:solidFill>
              </a:defRPr>
            </a:lvl4pPr>
            <a:lvl5pPr indent="-298450" lvl="4" marL="2286000">
              <a:spcBef>
                <a:spcPts val="0"/>
              </a:spcBef>
              <a:spcAft>
                <a:spcPts val="0"/>
              </a:spcAft>
              <a:buClr>
                <a:schemeClr val="dk2"/>
              </a:buClr>
              <a:buSzPts val="1100"/>
              <a:buChar char="○"/>
              <a:defRPr>
                <a:solidFill>
                  <a:schemeClr val="dk2"/>
                </a:solidFill>
              </a:defRPr>
            </a:lvl5pPr>
            <a:lvl6pPr indent="-298450" lvl="5" marL="2743200">
              <a:spcBef>
                <a:spcPts val="0"/>
              </a:spcBef>
              <a:spcAft>
                <a:spcPts val="0"/>
              </a:spcAft>
              <a:buClr>
                <a:schemeClr val="dk2"/>
              </a:buClr>
              <a:buSzPts val="1100"/>
              <a:buChar char="■"/>
              <a:defRPr>
                <a:solidFill>
                  <a:schemeClr val="dk2"/>
                </a:solidFill>
              </a:defRPr>
            </a:lvl6pPr>
            <a:lvl7pPr indent="-298450" lvl="6" marL="3200400">
              <a:spcBef>
                <a:spcPts val="0"/>
              </a:spcBef>
              <a:spcAft>
                <a:spcPts val="0"/>
              </a:spcAft>
              <a:buClr>
                <a:schemeClr val="dk2"/>
              </a:buClr>
              <a:buSzPts val="1100"/>
              <a:buChar char="●"/>
              <a:defRPr>
                <a:solidFill>
                  <a:schemeClr val="dk2"/>
                </a:solidFill>
              </a:defRPr>
            </a:lvl7pPr>
            <a:lvl8pPr indent="-298450" lvl="7" marL="3657600">
              <a:spcBef>
                <a:spcPts val="0"/>
              </a:spcBef>
              <a:spcAft>
                <a:spcPts val="0"/>
              </a:spcAft>
              <a:buClr>
                <a:schemeClr val="dk2"/>
              </a:buClr>
              <a:buSzPts val="1100"/>
              <a:buChar char="○"/>
              <a:defRPr>
                <a:solidFill>
                  <a:schemeClr val="dk2"/>
                </a:solidFill>
              </a:defRPr>
            </a:lvl8pPr>
            <a:lvl9pPr indent="-298450" lvl="8" marL="4114800">
              <a:spcBef>
                <a:spcPts val="0"/>
              </a:spcBef>
              <a:spcAft>
                <a:spcPts val="0"/>
              </a:spcAft>
              <a:buClr>
                <a:schemeClr val="dk2"/>
              </a:buClr>
              <a:buSzPts val="1100"/>
              <a:buChar char="■"/>
              <a:defRPr>
                <a:solidFill>
                  <a:schemeClr val="dk2"/>
                </a:solidFill>
              </a:defRPr>
            </a:lvl9pPr>
          </a:lstStyle>
          <a:p/>
        </p:txBody>
      </p:sp>
      <p:sp>
        <p:nvSpPr>
          <p:cNvPr id="100" name="Google Shape;100;p11"/>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grpSp>
        <p:nvGrpSpPr>
          <p:cNvPr id="101" name="Google Shape;101;p11"/>
          <p:cNvGrpSpPr/>
          <p:nvPr/>
        </p:nvGrpSpPr>
        <p:grpSpPr>
          <a:xfrm>
            <a:off x="901275" y="346000"/>
            <a:ext cx="4007025" cy="583675"/>
            <a:chOff x="891600" y="568325"/>
            <a:chExt cx="4007025" cy="583675"/>
          </a:xfrm>
        </p:grpSpPr>
        <p:grpSp>
          <p:nvGrpSpPr>
            <p:cNvPr id="102" name="Google Shape;102;p11"/>
            <p:cNvGrpSpPr/>
            <p:nvPr/>
          </p:nvGrpSpPr>
          <p:grpSpPr>
            <a:xfrm rot="5400000">
              <a:off x="1318062" y="841069"/>
              <a:ext cx="563953" cy="45826"/>
              <a:chOff x="4580561" y="2589004"/>
              <a:chExt cx="1064464" cy="25200"/>
            </a:xfrm>
          </p:grpSpPr>
          <p:sp>
            <p:nvSpPr>
              <p:cNvPr id="103" name="Google Shape;103;p11"/>
              <p:cNvSpPr/>
              <p:nvPr/>
            </p:nvSpPr>
            <p:spPr>
              <a:xfrm rot="-5400000">
                <a:off x="5366325" y="2335504"/>
                <a:ext cx="25200" cy="5322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11"/>
              <p:cNvSpPr/>
              <p:nvPr/>
            </p:nvSpPr>
            <p:spPr>
              <a:xfrm rot="-5400000">
                <a:off x="4836311" y="2333254"/>
                <a:ext cx="25200" cy="536700"/>
              </a:xfrm>
              <a:prstGeom prst="rect">
                <a:avLst/>
              </a:prstGeom>
              <a:solidFill>
                <a:srgbClr val="F78C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05" name="Google Shape;105;p11"/>
            <p:cNvPicPr preferRelativeResize="0"/>
            <p:nvPr/>
          </p:nvPicPr>
          <p:blipFill>
            <a:blip r:embed="rId2">
              <a:alphaModFix/>
            </a:blip>
            <a:stretch>
              <a:fillRect/>
            </a:stretch>
          </p:blipFill>
          <p:spPr>
            <a:xfrm>
              <a:off x="891600" y="568325"/>
              <a:ext cx="493850" cy="567250"/>
            </a:xfrm>
            <a:prstGeom prst="rect">
              <a:avLst/>
            </a:prstGeom>
            <a:noFill/>
            <a:ln>
              <a:noFill/>
            </a:ln>
          </p:spPr>
        </p:pic>
        <p:sp>
          <p:nvSpPr>
            <p:cNvPr id="106" name="Google Shape;106;p11"/>
            <p:cNvSpPr txBox="1"/>
            <p:nvPr/>
          </p:nvSpPr>
          <p:spPr>
            <a:xfrm>
              <a:off x="1814625" y="597900"/>
              <a:ext cx="3084000" cy="554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GB" sz="2400">
                  <a:latin typeface="Metrophobic"/>
                  <a:ea typeface="Metrophobic"/>
                  <a:cs typeface="Metrophobic"/>
                  <a:sym typeface="Metrophobic"/>
                </a:rPr>
                <a:t>Knowledge.Fund</a:t>
              </a:r>
              <a:endParaRPr sz="2400">
                <a:latin typeface="Metrophobic"/>
                <a:ea typeface="Metrophobic"/>
                <a:cs typeface="Metrophobic"/>
                <a:sym typeface="Metrophobic"/>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1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treamlin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indent="-298450" lvl="1" marL="914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indent="-298450" lvl="2" marL="1371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indent="-298450" lvl="3" marL="1828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indent="-298450" lvl="4" marL="22860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indent="-298450" lvl="5" marL="27432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indent="-298450" lvl="6" marL="3200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indent="-298450" lvl="7" marL="3657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indent="-298450" lvl="8" marL="4114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9pPr>
          </a:lstStyle>
          <a:p/>
        </p:txBody>
      </p:sp>
      <p:sp>
        <p:nvSpPr>
          <p:cNvPr id="8" name="Google Shape;8;p1"/>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www.linkedin.com/in/MaxBarrass/"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3"/>
          <p:cNvSpPr txBox="1"/>
          <p:nvPr>
            <p:ph idx="1" type="subTitle"/>
          </p:nvPr>
        </p:nvSpPr>
        <p:spPr>
          <a:xfrm>
            <a:off x="727950" y="1814025"/>
            <a:ext cx="7688100" cy="888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GB"/>
              <a:t>When your organisation runs out of ideas Knowledge </a:t>
            </a:r>
            <a:r>
              <a:rPr lang="en-GB"/>
              <a:t>Fund</a:t>
            </a:r>
            <a:r>
              <a:rPr lang="en-GB"/>
              <a:t> will help your</a:t>
            </a:r>
            <a:endParaRPr/>
          </a:p>
          <a:p>
            <a:pPr indent="0" lvl="0" marL="0" rtl="0" algn="l">
              <a:spcBef>
                <a:spcPts val="0"/>
              </a:spcBef>
              <a:spcAft>
                <a:spcPts val="0"/>
              </a:spcAft>
              <a:buNone/>
            </a:pPr>
            <a:r>
              <a:rPr lang="en-GB"/>
              <a:t>Enterprise Knowledge Economy grow</a:t>
            </a:r>
            <a:endParaRPr/>
          </a:p>
          <a:p>
            <a:pPr indent="0" lvl="0" marL="0" rtl="0" algn="l">
              <a:spcBef>
                <a:spcPts val="0"/>
              </a:spcBef>
              <a:spcAft>
                <a:spcPts val="0"/>
              </a:spcAft>
              <a:buNone/>
            </a:pPr>
            <a:r>
              <a:t/>
            </a:r>
            <a:endParaRPr/>
          </a:p>
        </p:txBody>
      </p:sp>
      <p:sp>
        <p:nvSpPr>
          <p:cNvPr id="114" name="Google Shape;114;p13"/>
          <p:cNvSpPr txBox="1"/>
          <p:nvPr>
            <p:ph idx="1" type="subTitle"/>
          </p:nvPr>
        </p:nvSpPr>
        <p:spPr>
          <a:xfrm>
            <a:off x="796925" y="3868650"/>
            <a:ext cx="2506800" cy="888000"/>
          </a:xfrm>
          <a:prstGeom prst="rect">
            <a:avLst/>
          </a:prstGeom>
        </p:spPr>
        <p:txBody>
          <a:bodyPr anchorCtr="0" anchor="t" bIns="91425" lIns="91425" spcFirstLastPara="1" rIns="91425" wrap="square" tIns="91425">
            <a:normAutofit fontScale="55000" lnSpcReduction="20000"/>
          </a:bodyPr>
          <a:lstStyle/>
          <a:p>
            <a:pPr indent="0" lvl="0" marL="0" rtl="0" algn="l">
              <a:spcBef>
                <a:spcPts val="0"/>
              </a:spcBef>
              <a:spcAft>
                <a:spcPts val="0"/>
              </a:spcAft>
              <a:buNone/>
            </a:pPr>
            <a:r>
              <a:rPr lang="en-GB"/>
              <a:t>Max Barrass</a:t>
            </a:r>
            <a:endParaRPr/>
          </a:p>
          <a:p>
            <a:pPr indent="0" lvl="0" marL="0" rtl="0" algn="l">
              <a:spcBef>
                <a:spcPts val="0"/>
              </a:spcBef>
              <a:spcAft>
                <a:spcPts val="0"/>
              </a:spcAft>
              <a:buNone/>
            </a:pPr>
            <a:r>
              <a:rPr lang="en-GB"/>
              <a:t>Founder &amp; CEO</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E: max.barrass@governance.foundation</a:t>
            </a:r>
            <a:endParaRPr/>
          </a:p>
          <a:p>
            <a:pPr indent="0" lvl="0" marL="0" rtl="0" algn="l">
              <a:spcBef>
                <a:spcPts val="0"/>
              </a:spcBef>
              <a:spcAft>
                <a:spcPts val="0"/>
              </a:spcAft>
              <a:buNone/>
            </a:pPr>
            <a:r>
              <a:rPr lang="en-GB"/>
              <a:t>L: </a:t>
            </a:r>
            <a:r>
              <a:rPr lang="en-GB" u="sng">
                <a:solidFill>
                  <a:schemeClr val="hlink"/>
                </a:solidFill>
                <a:hlinkClick r:id="rId3"/>
              </a:rPr>
              <a:t>linkedin.com/in/MaxBarrass</a:t>
            </a:r>
            <a:endParaRPr/>
          </a:p>
          <a:p>
            <a:pPr indent="0" lvl="0" marL="0" rtl="0" algn="l">
              <a:spcBef>
                <a:spcPts val="0"/>
              </a:spcBef>
              <a:spcAft>
                <a:spcPts val="0"/>
              </a:spcAft>
              <a:buNone/>
            </a:pPr>
            <a:r>
              <a:rPr lang="en-GB"/>
              <a:t>M: 0410 533 731</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4"/>
          <p:cNvSpPr txBox="1"/>
          <p:nvPr>
            <p:ph idx="1" type="body"/>
          </p:nvPr>
        </p:nvSpPr>
        <p:spPr>
          <a:xfrm>
            <a:off x="729450" y="2078875"/>
            <a:ext cx="7688700" cy="28737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GB"/>
              <a:t>Knowledge Fog - help organisation understand what knowledge is yet to be explored</a:t>
            </a:r>
            <a:endParaRPr/>
          </a:p>
          <a:p>
            <a:pPr indent="-311150" lvl="0" marL="457200" rtl="0" algn="l">
              <a:spcBef>
                <a:spcPts val="0"/>
              </a:spcBef>
              <a:spcAft>
                <a:spcPts val="0"/>
              </a:spcAft>
              <a:buSzPts val="1300"/>
              <a:buChar char="●"/>
            </a:pPr>
            <a:r>
              <a:rPr lang="en-GB"/>
              <a:t>Knowledge Architect - help to build knowledge landscape</a:t>
            </a:r>
            <a:endParaRPr/>
          </a:p>
          <a:p>
            <a:pPr indent="-311150" lvl="0" marL="457200" rtl="0" algn="l">
              <a:spcBef>
                <a:spcPts val="0"/>
              </a:spcBef>
              <a:spcAft>
                <a:spcPts val="0"/>
              </a:spcAft>
              <a:buSzPts val="1300"/>
              <a:buChar char="●"/>
            </a:pPr>
            <a:r>
              <a:rPr lang="en-GB"/>
              <a:t>Knowledge Diagram - generate diagrams</a:t>
            </a:r>
            <a:endParaRPr/>
          </a:p>
          <a:p>
            <a:pPr indent="-311150" lvl="0" marL="457200" rtl="0" algn="l">
              <a:spcBef>
                <a:spcPts val="0"/>
              </a:spcBef>
              <a:spcAft>
                <a:spcPts val="0"/>
              </a:spcAft>
              <a:buSzPts val="1300"/>
              <a:buChar char="●"/>
            </a:pPr>
            <a:r>
              <a:rPr lang="en-GB"/>
              <a:t>Knowledge Artifacts - generate artifacts</a:t>
            </a:r>
            <a:endParaRPr/>
          </a:p>
          <a:p>
            <a:pPr indent="-311150" lvl="0" marL="457200" rtl="0" algn="l">
              <a:spcBef>
                <a:spcPts val="0"/>
              </a:spcBef>
              <a:spcAft>
                <a:spcPts val="0"/>
              </a:spcAft>
              <a:buSzPts val="1300"/>
              <a:buChar char="●"/>
            </a:pPr>
            <a:r>
              <a:rPr lang="en-GB"/>
              <a:t>Knowledge Finder - assistant to find knowledge</a:t>
            </a:r>
            <a:endParaRPr/>
          </a:p>
          <a:p>
            <a:pPr indent="-311150" lvl="0" marL="457200" rtl="0" algn="l">
              <a:spcBef>
                <a:spcPts val="0"/>
              </a:spcBef>
              <a:spcAft>
                <a:spcPts val="0"/>
              </a:spcAft>
              <a:buSzPts val="1300"/>
              <a:buChar char="●"/>
            </a:pPr>
            <a:r>
              <a:rPr lang="en-GB"/>
              <a:t>Knowledge Experience - generate new personalised interactive experiences</a:t>
            </a:r>
            <a:endParaRPr/>
          </a:p>
          <a:p>
            <a:pPr indent="-311150" lvl="0" marL="457200" rtl="0" algn="l">
              <a:spcBef>
                <a:spcPts val="0"/>
              </a:spcBef>
              <a:spcAft>
                <a:spcPts val="0"/>
              </a:spcAft>
              <a:buSzPts val="1300"/>
              <a:buChar char="●"/>
            </a:pPr>
            <a:r>
              <a:rPr lang="en-GB"/>
              <a:t>Knowledge Assistant - help employees with admin tasks</a:t>
            </a:r>
            <a:endParaRPr/>
          </a:p>
          <a:p>
            <a:pPr indent="-311150" lvl="0" marL="457200" rtl="0" algn="l">
              <a:spcBef>
                <a:spcPts val="0"/>
              </a:spcBef>
              <a:spcAft>
                <a:spcPts val="0"/>
              </a:spcAft>
              <a:buSzPts val="1300"/>
              <a:buChar char="●"/>
            </a:pPr>
            <a:r>
              <a:rPr lang="en-GB"/>
              <a:t>Knowledge Rewards - generate rewards for knowledge</a:t>
            </a:r>
            <a:endParaRPr/>
          </a:p>
          <a:p>
            <a:pPr indent="-311150" lvl="0" marL="457200" rtl="0" algn="l">
              <a:spcBef>
                <a:spcPts val="0"/>
              </a:spcBef>
              <a:spcAft>
                <a:spcPts val="0"/>
              </a:spcAft>
              <a:buSzPts val="1300"/>
              <a:buChar char="●"/>
            </a:pPr>
            <a:r>
              <a:rPr lang="en-GB"/>
              <a:t>Knowledge Socials - help to keep social relationships at work, </a:t>
            </a:r>
            <a:r>
              <a:rPr lang="en-GB"/>
              <a:t>everyone's</a:t>
            </a:r>
            <a:r>
              <a:rPr lang="en-GB"/>
              <a:t> personal crm</a:t>
            </a:r>
            <a:endParaRPr/>
          </a:p>
          <a:p>
            <a:pPr indent="-311150" lvl="0" marL="457200" rtl="0" algn="l">
              <a:spcBef>
                <a:spcPts val="0"/>
              </a:spcBef>
              <a:spcAft>
                <a:spcPts val="0"/>
              </a:spcAft>
              <a:buSzPts val="1300"/>
              <a:buChar char="●"/>
            </a:pPr>
            <a:r>
              <a:rPr lang="en-GB"/>
              <a:t>Knowledge Operations - help to drive implementation and maintenance</a:t>
            </a:r>
            <a:endParaRPr/>
          </a:p>
        </p:txBody>
      </p:sp>
      <p:sp>
        <p:nvSpPr>
          <p:cNvPr id="120" name="Google Shape;120;p14"/>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Our Experiences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5"/>
          <p:cNvSpPr txBox="1"/>
          <p:nvPr>
            <p:ph type="title"/>
          </p:nvPr>
        </p:nvSpPr>
        <p:spPr>
          <a:xfrm>
            <a:off x="729450" y="1318650"/>
            <a:ext cx="36663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a:t>
            </a:r>
            <a:r>
              <a:rPr lang="en-GB"/>
              <a:t> Fog</a:t>
            </a:r>
            <a:endParaRPr/>
          </a:p>
        </p:txBody>
      </p:sp>
      <p:sp>
        <p:nvSpPr>
          <p:cNvPr id="126" name="Google Shape;126;p15"/>
          <p:cNvSpPr txBox="1"/>
          <p:nvPr>
            <p:ph idx="1" type="body"/>
          </p:nvPr>
        </p:nvSpPr>
        <p:spPr>
          <a:xfrm>
            <a:off x="729450" y="2078875"/>
            <a:ext cx="3666300" cy="22611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GB"/>
              <a:t>At a glance show organisational focus</a:t>
            </a:r>
            <a:endParaRPr/>
          </a:p>
          <a:p>
            <a:pPr indent="-311150" lvl="0" marL="457200" rtl="0" algn="l">
              <a:spcBef>
                <a:spcPts val="0"/>
              </a:spcBef>
              <a:spcAft>
                <a:spcPts val="0"/>
              </a:spcAft>
              <a:buSzPts val="1300"/>
              <a:buChar char="●"/>
            </a:pPr>
            <a:r>
              <a:rPr lang="en-GB"/>
              <a:t>Insight to next best action</a:t>
            </a:r>
            <a:endParaRPr/>
          </a:p>
          <a:p>
            <a:pPr indent="-311150" lvl="0" marL="457200" rtl="0" algn="l">
              <a:spcBef>
                <a:spcPts val="0"/>
              </a:spcBef>
              <a:spcAft>
                <a:spcPts val="0"/>
              </a:spcAft>
              <a:buSzPts val="1300"/>
              <a:buChar char="●"/>
            </a:pPr>
            <a:r>
              <a:rPr lang="en-GB"/>
              <a:t>Provide heatmap of knowledge freshness</a:t>
            </a:r>
            <a:endParaRPr/>
          </a:p>
          <a:p>
            <a:pPr indent="-311150" lvl="0" marL="457200" rtl="0" algn="l">
              <a:spcBef>
                <a:spcPts val="0"/>
              </a:spcBef>
              <a:spcAft>
                <a:spcPts val="0"/>
              </a:spcAft>
              <a:buSzPts val="1300"/>
              <a:buChar char="●"/>
            </a:pPr>
            <a:r>
              <a:rPr lang="en-GB"/>
              <a:t>Determine maturity </a:t>
            </a:r>
            <a:r>
              <a:rPr lang="en-GB"/>
              <a:t>awareness</a:t>
            </a:r>
            <a:endParaRPr/>
          </a:p>
        </p:txBody>
      </p:sp>
      <p:pic>
        <p:nvPicPr>
          <p:cNvPr id="127" name="Google Shape;127;p15"/>
          <p:cNvPicPr preferRelativeResize="0"/>
          <p:nvPr/>
        </p:nvPicPr>
        <p:blipFill rotWithShape="1">
          <a:blip r:embed="rId3">
            <a:alphaModFix/>
          </a:blip>
          <a:srcRect b="35894" l="0" r="0" t="9037"/>
          <a:stretch/>
        </p:blipFill>
        <p:spPr>
          <a:xfrm>
            <a:off x="4572000" y="1522975"/>
            <a:ext cx="4414801" cy="3273641"/>
          </a:xfrm>
          <a:prstGeom prst="rect">
            <a:avLst/>
          </a:prstGeom>
          <a:noFill/>
          <a:ln>
            <a:noFill/>
          </a:ln>
        </p:spPr>
      </p:pic>
      <p:sp>
        <p:nvSpPr>
          <p:cNvPr id="128" name="Google Shape;128;p15"/>
          <p:cNvSpPr/>
          <p:nvPr/>
        </p:nvSpPr>
        <p:spPr>
          <a:xfrm>
            <a:off x="5735425" y="3578700"/>
            <a:ext cx="594000" cy="6360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5"/>
          <p:cNvSpPr/>
          <p:nvPr/>
        </p:nvSpPr>
        <p:spPr>
          <a:xfrm>
            <a:off x="6821300" y="2547925"/>
            <a:ext cx="8607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15"/>
          <p:cNvSpPr/>
          <p:nvPr/>
        </p:nvSpPr>
        <p:spPr>
          <a:xfrm>
            <a:off x="7449950" y="2390750"/>
            <a:ext cx="8607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5"/>
          <p:cNvSpPr/>
          <p:nvPr/>
        </p:nvSpPr>
        <p:spPr>
          <a:xfrm>
            <a:off x="7988100" y="2238350"/>
            <a:ext cx="8607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5"/>
          <p:cNvSpPr/>
          <p:nvPr/>
        </p:nvSpPr>
        <p:spPr>
          <a:xfrm>
            <a:off x="8202300" y="1995625"/>
            <a:ext cx="8607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5"/>
          <p:cNvSpPr/>
          <p:nvPr/>
        </p:nvSpPr>
        <p:spPr>
          <a:xfrm>
            <a:off x="7988100" y="2629050"/>
            <a:ext cx="8607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5"/>
          <p:cNvSpPr/>
          <p:nvPr/>
        </p:nvSpPr>
        <p:spPr>
          <a:xfrm>
            <a:off x="7850000" y="2829075"/>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15"/>
          <p:cNvSpPr/>
          <p:nvPr/>
        </p:nvSpPr>
        <p:spPr>
          <a:xfrm>
            <a:off x="8169100" y="30264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5"/>
          <p:cNvSpPr/>
          <p:nvPr/>
        </p:nvSpPr>
        <p:spPr>
          <a:xfrm>
            <a:off x="8310650" y="3381375"/>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5"/>
          <p:cNvSpPr/>
          <p:nvPr/>
        </p:nvSpPr>
        <p:spPr>
          <a:xfrm>
            <a:off x="7270500" y="403385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5"/>
          <p:cNvSpPr/>
          <p:nvPr/>
        </p:nvSpPr>
        <p:spPr>
          <a:xfrm>
            <a:off x="7546725" y="39143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5"/>
          <p:cNvSpPr/>
          <p:nvPr/>
        </p:nvSpPr>
        <p:spPr>
          <a:xfrm>
            <a:off x="8310650" y="3990975"/>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5"/>
          <p:cNvSpPr/>
          <p:nvPr/>
        </p:nvSpPr>
        <p:spPr>
          <a:xfrm>
            <a:off x="7988100" y="39143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5"/>
          <p:cNvSpPr/>
          <p:nvPr/>
        </p:nvSpPr>
        <p:spPr>
          <a:xfrm>
            <a:off x="5959275" y="141875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5"/>
          <p:cNvSpPr/>
          <p:nvPr/>
        </p:nvSpPr>
        <p:spPr>
          <a:xfrm>
            <a:off x="6475350" y="13616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5"/>
          <p:cNvSpPr/>
          <p:nvPr/>
        </p:nvSpPr>
        <p:spPr>
          <a:xfrm>
            <a:off x="8991688" y="1209675"/>
            <a:ext cx="119100" cy="36624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5"/>
          <p:cNvSpPr/>
          <p:nvPr/>
        </p:nvSpPr>
        <p:spPr>
          <a:xfrm>
            <a:off x="7080000" y="429125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5"/>
          <p:cNvSpPr/>
          <p:nvPr/>
        </p:nvSpPr>
        <p:spPr>
          <a:xfrm>
            <a:off x="7682000" y="429125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5"/>
          <p:cNvSpPr/>
          <p:nvPr/>
        </p:nvSpPr>
        <p:spPr>
          <a:xfrm>
            <a:off x="8169100" y="429125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5"/>
          <p:cNvSpPr/>
          <p:nvPr/>
        </p:nvSpPr>
        <p:spPr>
          <a:xfrm>
            <a:off x="8169100" y="3658825"/>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5"/>
          <p:cNvSpPr/>
          <p:nvPr/>
        </p:nvSpPr>
        <p:spPr>
          <a:xfrm>
            <a:off x="7850000" y="14503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5"/>
          <p:cNvSpPr/>
          <p:nvPr/>
        </p:nvSpPr>
        <p:spPr>
          <a:xfrm>
            <a:off x="8202300" y="14503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5"/>
          <p:cNvSpPr/>
          <p:nvPr/>
        </p:nvSpPr>
        <p:spPr>
          <a:xfrm>
            <a:off x="8059650" y="17551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5"/>
          <p:cNvSpPr/>
          <p:nvPr/>
        </p:nvSpPr>
        <p:spPr>
          <a:xfrm>
            <a:off x="6552900" y="15027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5"/>
          <p:cNvSpPr/>
          <p:nvPr/>
        </p:nvSpPr>
        <p:spPr>
          <a:xfrm>
            <a:off x="5735425" y="4500575"/>
            <a:ext cx="717600" cy="3918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5"/>
          <p:cNvSpPr/>
          <p:nvPr/>
        </p:nvSpPr>
        <p:spPr>
          <a:xfrm>
            <a:off x="5857525" y="4033850"/>
            <a:ext cx="473400" cy="6360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5"/>
          <p:cNvSpPr/>
          <p:nvPr/>
        </p:nvSpPr>
        <p:spPr>
          <a:xfrm>
            <a:off x="6045725" y="4001300"/>
            <a:ext cx="594000" cy="3057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5"/>
          <p:cNvSpPr/>
          <p:nvPr/>
        </p:nvSpPr>
        <p:spPr>
          <a:xfrm>
            <a:off x="6441163" y="3914300"/>
            <a:ext cx="717600" cy="3918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5"/>
          <p:cNvSpPr/>
          <p:nvPr/>
        </p:nvSpPr>
        <p:spPr>
          <a:xfrm>
            <a:off x="6715928" y="4037600"/>
            <a:ext cx="764100" cy="5352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5"/>
          <p:cNvSpPr/>
          <p:nvPr/>
        </p:nvSpPr>
        <p:spPr>
          <a:xfrm>
            <a:off x="6045725" y="4543275"/>
            <a:ext cx="717600" cy="3492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5"/>
          <p:cNvSpPr/>
          <p:nvPr/>
        </p:nvSpPr>
        <p:spPr>
          <a:xfrm>
            <a:off x="6641063" y="4343300"/>
            <a:ext cx="717600" cy="5523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5"/>
          <p:cNvSpPr/>
          <p:nvPr/>
        </p:nvSpPr>
        <p:spPr>
          <a:xfrm>
            <a:off x="4252925" y="4843475"/>
            <a:ext cx="4695900" cy="2331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15"/>
          <p:cNvSpPr/>
          <p:nvPr/>
        </p:nvSpPr>
        <p:spPr>
          <a:xfrm>
            <a:off x="4367225" y="1243025"/>
            <a:ext cx="4695900" cy="2331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5"/>
          <p:cNvSpPr/>
          <p:nvPr/>
        </p:nvSpPr>
        <p:spPr>
          <a:xfrm>
            <a:off x="4481525" y="1476050"/>
            <a:ext cx="4505400" cy="33675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highlight>
                <a:schemeClr val="lt1"/>
              </a:highligh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6"/>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 Architect</a:t>
            </a:r>
            <a:endParaRPr/>
          </a:p>
        </p:txBody>
      </p:sp>
      <p:sp>
        <p:nvSpPr>
          <p:cNvPr id="167" name="Google Shape;167;p16"/>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a:t>Extend and drive knowledge architecture and exploration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17"/>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 Diagram</a:t>
            </a:r>
            <a:endParaRPr/>
          </a:p>
        </p:txBody>
      </p:sp>
      <p:sp>
        <p:nvSpPr>
          <p:cNvPr id="173" name="Google Shape;173;p17"/>
          <p:cNvSpPr txBox="1"/>
          <p:nvPr>
            <p:ph idx="1" type="body"/>
          </p:nvPr>
        </p:nvSpPr>
        <p:spPr>
          <a:xfrm>
            <a:off x="729450" y="2078875"/>
            <a:ext cx="3842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a:t>Generate diagrams from existing </a:t>
            </a:r>
            <a:r>
              <a:rPr lang="en-GB"/>
              <a:t>knowledge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18"/>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a:t>
            </a:r>
            <a:r>
              <a:rPr lang="en-GB"/>
              <a:t> Artifacts</a:t>
            </a:r>
            <a:endParaRPr/>
          </a:p>
        </p:txBody>
      </p:sp>
      <p:sp>
        <p:nvSpPr>
          <p:cNvPr id="179" name="Google Shape;179;p18"/>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19"/>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 Finder</a:t>
            </a:r>
            <a:endParaRPr/>
          </a:p>
        </p:txBody>
      </p:sp>
      <p:sp>
        <p:nvSpPr>
          <p:cNvPr id="185" name="Google Shape;185;p19"/>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0"/>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 Experiences</a:t>
            </a:r>
            <a:endParaRPr/>
          </a:p>
        </p:txBody>
      </p:sp>
      <p:sp>
        <p:nvSpPr>
          <p:cNvPr id="191" name="Google Shape;191;p20"/>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1"/>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 Assistant</a:t>
            </a:r>
            <a:endParaRPr/>
          </a:p>
        </p:txBody>
      </p:sp>
      <p:sp>
        <p:nvSpPr>
          <p:cNvPr id="197" name="Google Shape;197;p21"/>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GB"/>
              <a:t>Enable </a:t>
            </a:r>
            <a:r>
              <a:rPr lang="en-GB"/>
              <a:t>contribution</a:t>
            </a:r>
            <a:endParaRPr/>
          </a:p>
          <a:p>
            <a:pPr indent="-311150" lvl="0" marL="457200" rtl="0" algn="l">
              <a:spcBef>
                <a:spcPts val="0"/>
              </a:spcBef>
              <a:spcAft>
                <a:spcPts val="0"/>
              </a:spcAft>
              <a:buSzPts val="1300"/>
              <a:buChar char="●"/>
            </a:pPr>
            <a:r>
              <a:rPr lang="en-GB"/>
              <a:t>Drive participation</a:t>
            </a:r>
            <a:endParaRPr/>
          </a:p>
          <a:p>
            <a:pPr indent="-311150" lvl="0" marL="457200" rtl="0" algn="l">
              <a:spcBef>
                <a:spcPts val="0"/>
              </a:spcBef>
              <a:spcAft>
                <a:spcPts val="0"/>
              </a:spcAft>
              <a:buSzPts val="1300"/>
              <a:buChar char="●"/>
            </a:pPr>
            <a:r>
              <a:rPr lang="en-GB"/>
              <a:t>Help with </a:t>
            </a:r>
            <a:r>
              <a:rPr lang="en-GB"/>
              <a:t>mundane</a:t>
            </a:r>
            <a:endParaRPr/>
          </a:p>
          <a:p>
            <a:pPr indent="-311150" lvl="0" marL="457200" rtl="0" algn="l">
              <a:spcBef>
                <a:spcPts val="0"/>
              </a:spcBef>
              <a:spcAft>
                <a:spcPts val="0"/>
              </a:spcAft>
              <a:buSzPts val="1300"/>
              <a:buChar char="●"/>
            </a:pPr>
            <a:r>
              <a:rPr lang="en-GB"/>
              <a:t>Help with organiston</a:t>
            </a:r>
            <a:endParaRPr/>
          </a:p>
          <a:p>
            <a:pPr indent="-311150" lvl="0" marL="457200" rtl="0" algn="l">
              <a:spcBef>
                <a:spcPts val="0"/>
              </a:spcBef>
              <a:spcAft>
                <a:spcPts val="0"/>
              </a:spcAft>
              <a:buSzPts val="1300"/>
              <a:buChar char="●"/>
            </a:pPr>
            <a:r>
              <a:rPr lang="en-GB"/>
              <a:t>Pay attention to employee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22"/>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 Rewards</a:t>
            </a:r>
            <a:endParaRPr/>
          </a:p>
        </p:txBody>
      </p:sp>
      <p:sp>
        <p:nvSpPr>
          <p:cNvPr id="203" name="Google Shape;203;p22"/>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a:t>Provide participation incentives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3"/>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Knowledge Socials</a:t>
            </a:r>
            <a:endParaRPr/>
          </a:p>
        </p:txBody>
      </p:sp>
      <p:sp>
        <p:nvSpPr>
          <p:cNvPr id="209" name="Google Shape;209;p23"/>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a:t>Integrate </a:t>
            </a:r>
            <a:r>
              <a:rPr lang="en-GB"/>
              <a:t>internal</a:t>
            </a:r>
            <a:r>
              <a:rPr lang="en-GB"/>
              <a:t> knowledge with external influence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